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eeccf57c65f4f18" /><Relationship Type="http://schemas.openxmlformats.org/officeDocument/2006/relationships/extended-properties" Target="/docProps/app.xml" Id="R75f50a9ce58c41dd" /><Relationship Type="http://schemas.openxmlformats.org/officeDocument/2006/relationships/officeDocument" Target="/ppt/presentation.xml" Id="R6a4040d4cfb64505" /></Relationships>
</file>

<file path=ppt/presentation.xml><?xml version="1.0" encoding="utf-8"?>
<p:presentation xmlns:p="http://schemas.openxmlformats.org/presentationml/2006/main">
  <p:sldMasterIdLst>
    <p:sldMasterId xmlns:r="http://schemas.openxmlformats.org/officeDocument/2006/relationships" id="2147483648" r:id="R0ea4df39080340c6"/>
  </p:sldMasterIdLst>
  <p:notesMasterIdLst>
    <p:notesMasterId xmlns:r="http://schemas.openxmlformats.org/officeDocument/2006/relationships" r:id="Ra8d2d8a966c4428c"/>
  </p:notesMasterIdLst>
  <p:sldIdLst>
    <p:sldId xmlns:r="http://schemas.openxmlformats.org/officeDocument/2006/relationships" id="256" r:id="R2a654d46286b4124"/>
    <p:sldId xmlns:r="http://schemas.openxmlformats.org/officeDocument/2006/relationships" id="257" r:id="R90798ac4a27b4311"/>
    <p:sldId xmlns:r="http://schemas.openxmlformats.org/officeDocument/2006/relationships" id="258" r:id="R1eee85f45e3a4358"/>
    <p:sldId xmlns:r="http://schemas.openxmlformats.org/officeDocument/2006/relationships" id="259" r:id="R035abb6f134f4771"/>
    <p:sldId xmlns:r="http://schemas.openxmlformats.org/officeDocument/2006/relationships" id="260" r:id="R4c4eb0f63e82497a"/>
    <p:sldId xmlns:r="http://schemas.openxmlformats.org/officeDocument/2006/relationships" id="261" r:id="Rcf2aafb7d75a4e1d"/>
    <p:sldId xmlns:r="http://schemas.openxmlformats.org/officeDocument/2006/relationships" id="262" r:id="R6d19ff1802a94bdf"/>
    <p:sldId xmlns:r="http://schemas.openxmlformats.org/officeDocument/2006/relationships" id="263" r:id="R22648807ed814026"/>
    <p:sldId xmlns:r="http://schemas.openxmlformats.org/officeDocument/2006/relationships" id="264" r:id="R6c806ede6b8b4d94"/>
    <p:sldId xmlns:r="http://schemas.openxmlformats.org/officeDocument/2006/relationships" id="265" r:id="Ra3235160aac94f1e"/>
    <p:sldId xmlns:r="http://schemas.openxmlformats.org/officeDocument/2006/relationships" id="266" r:id="Rae887e0c41de4cf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9ada3c7b7aa4521" /><Relationship Type="http://schemas.openxmlformats.org/officeDocument/2006/relationships/slideMaster" Target="/ppt/slideMasters/slideMaster1.xml" Id="R0ea4df39080340c6" /><Relationship Type="http://schemas.openxmlformats.org/officeDocument/2006/relationships/notesMaster" Target="/ppt/notesMasters/notesMaster1.xml" Id="Ra8d2d8a966c4428c" /><Relationship Type="http://schemas.openxmlformats.org/officeDocument/2006/relationships/presProps" Target="/ppt/presProps.xml" Id="Rd20b83b7f795499a" /><Relationship Type="http://schemas.openxmlformats.org/officeDocument/2006/relationships/tableStyles" Target="/ppt/tableStyles.xml" Id="Rbda83b5cdce84114" /><Relationship Type="http://schemas.openxmlformats.org/officeDocument/2006/relationships/slide" Target="/ppt/slides/slide1.xml" Id="R2a654d46286b4124" /><Relationship Type="http://schemas.openxmlformats.org/officeDocument/2006/relationships/slide" Target="/ppt/slides/slide2.xml" Id="R90798ac4a27b4311" /><Relationship Type="http://schemas.openxmlformats.org/officeDocument/2006/relationships/slide" Target="/ppt/slides/slide3.xml" Id="R1eee85f45e3a4358" /><Relationship Type="http://schemas.openxmlformats.org/officeDocument/2006/relationships/slide" Target="/ppt/slides/slide4.xml" Id="R035abb6f134f4771" /><Relationship Type="http://schemas.openxmlformats.org/officeDocument/2006/relationships/slide" Target="/ppt/slides/slide5.xml" Id="R4c4eb0f63e82497a" /><Relationship Type="http://schemas.openxmlformats.org/officeDocument/2006/relationships/slide" Target="/ppt/slides/slide6.xml" Id="Rcf2aafb7d75a4e1d" /><Relationship Type="http://schemas.openxmlformats.org/officeDocument/2006/relationships/slide" Target="/ppt/slides/slide7.xml" Id="R6d19ff1802a94bdf" /><Relationship Type="http://schemas.openxmlformats.org/officeDocument/2006/relationships/slide" Target="/ppt/slides/slide8.xml" Id="R22648807ed814026" /><Relationship Type="http://schemas.openxmlformats.org/officeDocument/2006/relationships/slide" Target="/ppt/slides/slide9.xml" Id="R6c806ede6b8b4d94" /><Relationship Type="http://schemas.openxmlformats.org/officeDocument/2006/relationships/slide" Target="/ppt/slides/slide10.xml" Id="Ra3235160aac94f1e" /><Relationship Type="http://schemas.openxmlformats.org/officeDocument/2006/relationships/slide" Target="/ppt/slides/slide11.xml" Id="Rae887e0c41de4cf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82f5683ed804f2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e654f5f19ff4ede" /><Relationship Type="http://schemas.openxmlformats.org/officeDocument/2006/relationships/notesMaster" Target="/ppt/notesMasters/notesMaster1.xml" Id="Rc3c12bb6a20a49ef" /></Relationships>
</file>

<file path=ppt/notesSlides/_rels/notesSlide2.xml.rels>&#65279;<?xml version="1.0" encoding="utf-8"?><Relationships xmlns="http://schemas.openxmlformats.org/package/2006/relationships"><Relationship Type="http://schemas.openxmlformats.org/officeDocument/2006/relationships/slide" Target="/ppt/slides/slide2.xml" Id="R15f30602682d4c4f" /><Relationship Type="http://schemas.openxmlformats.org/officeDocument/2006/relationships/notesMaster" Target="/ppt/notesMasters/notesMaster1.xml" Id="Rcc9ad3014b4b49bf" /></Relationships>
</file>

<file path=ppt/notesSlides/_rels/notesSlide3.xml.rels>&#65279;<?xml version="1.0" encoding="utf-8"?><Relationships xmlns="http://schemas.openxmlformats.org/package/2006/relationships"><Relationship Type="http://schemas.openxmlformats.org/officeDocument/2006/relationships/slide" Target="/ppt/slides/slide3.xml" Id="R8d6980871e4645a3" /><Relationship Type="http://schemas.openxmlformats.org/officeDocument/2006/relationships/notesMaster" Target="/ppt/notesMasters/notesMaster1.xml" Id="R4d983161beaa4291" /></Relationships>
</file>

<file path=ppt/notesSlides/_rels/notesSlide4.xml.rels>&#65279;<?xml version="1.0" encoding="utf-8"?><Relationships xmlns="http://schemas.openxmlformats.org/package/2006/relationships"><Relationship Type="http://schemas.openxmlformats.org/officeDocument/2006/relationships/slide" Target="/ppt/slides/slide4.xml" Id="Rf19c738e5fea4cf9" /><Relationship Type="http://schemas.openxmlformats.org/officeDocument/2006/relationships/notesMaster" Target="/ppt/notesMasters/notesMaster1.xml" Id="R2fb4c0cb3fec4d4f" /></Relationships>
</file>

<file path=ppt/notesSlides/_rels/notesSlide5.xml.rels>&#65279;<?xml version="1.0" encoding="utf-8"?><Relationships xmlns="http://schemas.openxmlformats.org/package/2006/relationships"><Relationship Type="http://schemas.openxmlformats.org/officeDocument/2006/relationships/slide" Target="/ppt/slides/slide5.xml" Id="Ra58e1f1f46794cbb" /><Relationship Type="http://schemas.openxmlformats.org/officeDocument/2006/relationships/notesMaster" Target="/ppt/notesMasters/notesMaster1.xml" Id="R5e1d4d393dd84054" /></Relationships>
</file>

<file path=ppt/notesSlides/_rels/notesSlide6.xml.rels>&#65279;<?xml version="1.0" encoding="utf-8"?><Relationships xmlns="http://schemas.openxmlformats.org/package/2006/relationships"><Relationship Type="http://schemas.openxmlformats.org/officeDocument/2006/relationships/slide" Target="/ppt/slides/slide6.xml" Id="R287c7e8987cf4601" /><Relationship Type="http://schemas.openxmlformats.org/officeDocument/2006/relationships/notesMaster" Target="/ppt/notesMasters/notesMaster1.xml" Id="R8024b33710684ac1" /></Relationships>
</file>

<file path=ppt/notesSlides/_rels/notesSlide7.xml.rels>&#65279;<?xml version="1.0" encoding="utf-8"?><Relationships xmlns="http://schemas.openxmlformats.org/package/2006/relationships"><Relationship Type="http://schemas.openxmlformats.org/officeDocument/2006/relationships/slide" Target="/ppt/slides/slide7.xml" Id="Rcd8ab97d9cde4dec" /><Relationship Type="http://schemas.openxmlformats.org/officeDocument/2006/relationships/notesMaster" Target="/ppt/notesMasters/notesMaster1.xml" Id="R5ed8dc28e11e401b" /></Relationships>
</file>

<file path=ppt/notesSlides/_rels/notesSlide8.xml.rels>&#65279;<?xml version="1.0" encoding="utf-8"?><Relationships xmlns="http://schemas.openxmlformats.org/package/2006/relationships"><Relationship Type="http://schemas.openxmlformats.org/officeDocument/2006/relationships/slide" Target="/ppt/slides/slide8.xml" Id="Rbfd1ce6b6fd64dbf" /><Relationship Type="http://schemas.openxmlformats.org/officeDocument/2006/relationships/notesMaster" Target="/ppt/notesMasters/notesMaster1.xml" Id="R89196d8d84f74f12" /></Relationships>
</file>

<file path=ppt/notesSlides/_rels/notesSlide9.xml.rels>&#65279;<?xml version="1.0" encoding="utf-8"?><Relationships xmlns="http://schemas.openxmlformats.org/package/2006/relationships"><Relationship Type="http://schemas.openxmlformats.org/officeDocument/2006/relationships/slide" Target="/ppt/slides/slide9.xml" Id="R9c364b9718da49b0" /><Relationship Type="http://schemas.openxmlformats.org/officeDocument/2006/relationships/notesMaster" Target="/ppt/notesMasters/notesMaster1.xml" Id="Rdd9f1f3acb2d4ed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cf61d4d7c2c40c3" /><Relationship Type="http://schemas.openxmlformats.org/officeDocument/2006/relationships/notesMaster" Target="/ppt/notesMasters/notesMaster1.xml" Id="Rfb40a850225b49b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b82459eaea24322" /><Relationship Type="http://schemas.openxmlformats.org/officeDocument/2006/relationships/notesMaster" Target="/ppt/notesMasters/notesMaster1.xml" Id="R09b69be6ed51488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CrossCart is a solo-built HacKU 2026 prototype for FinTech: Agentic Commerce (Sponsored by The Club by HKT). It compares synthetic merchant offers, binds one exact purchase to explicit approval and reconciles official Stripe test payments. Cover illustration is the existing CrossCart Consent Studio artwork. No HKT affiliation or live merchant integration is implied. Live demo: https://crosscart.vercel.app/.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product problem, not an external survey finding. The default synthetic case has a HK$1,800 budget and an exact HK$1,749 approval. Budget is an eligibility constraint. The mandate binds exact purchase fields and the server validates them before authorization and capture. See lib/policy.ts, lib/service.ts and tests/quote-gate.test.ts in https://github.com/Gout999/CrossCart.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synthetic catalogue in lib/merchants.ts and actual public-cloud run on 4 October 2026 Hong Kong time. A = HK$1,719 item + HK$30 delivery. B = HK$1,669 + HK$30. C = HK$1,779 + HK$50. The cheapest offer is ineligible because it has third-party warranty. The model uses read-only merchant tools. Prices and eligibility come from server-owned records. No real retailer data is represented.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Implemented boundary: the immutable mandate and explicit actor/time approval bind exact seller, payee, product/variant/quantity, gross minor-unit total, currency, warranty, delivery, terms and expiry. Server owns payment amounts. Stripe Hosted Checkout uses manual capture. A hash is a content integrity identifier, not a cryptographic user signature. The model cannot approve or trigger payment authority. Source: lib/service.ts, lib/policy.ts, lib/payments.ts and public judge guide https://crosscart.vercel.app/evidence.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actual public-cloud Playwright suite against https://crosscart.vercel.app/, eight cases passed, 4.3 minutes, 4 October 2026 Hong Kong time. Core cases: HK$1,749 successful capture/confirmed synthetic order, HK$1,849 changed-price rejection with no Checkout/payment object, and same-charge HK$1,749 refund after synthetic order failure. Official Stripe API retrieval confirmed test mode, exact amount, manual capture, payee and mandate metadata. Refund succeeded at provider, not proof of bank posting. Source: docs/cloud-acceptance.json and docs/VALIDATION.md in the public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Screenshot: actual public HTTPS official Stripe happy-case run, 4 October 2026 Hong Kong time, .local.nosync/evidence/2026-10-04-cloud/playwright/stripe/happy.png. Screenshot cropped to the top result area, without altering its contents. Source app separates payment, order and recovery. It does not treat a browser return message as payment truth. Providers are official Stripe test mode and synthetic demo merchant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docs/VALIDATION.md and docs/cloud-acceptance.json. 114 offline checks = prior 111 + 3 cloud-boundary checks. 18 local browser checks are simulated payments. Eight actual public HTTPS Stripe cases are separate from one focused public HTTPS test that blocked the success return and used read-only database observation, with no app API polling before settlement. Official signed webhook receipts correlate retrieved test provider objects. Actual Neon concurrency/rollback/separate-process reopen was tested using explicitly local simulated payments. Public mobile purchase: user reported "Purchase confirmed." in this thread on 4 October 2026. Device and browser were not supplied, and this report is distinct from the automated provider evidence. Vercel Node 24/sin1 and dedicated Neon Free Singapore. Cloud snapshot ledger serializes the bounded 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Reproducible layout benchmark: https://crosscart.vercel.app/benchmark. Manual: review A, next B, next C, open choices and choose A = 4 counted actions after Start. CrossCart table: choose A = 1 action after Start. Both display the same server catalogue and requirements, and both choose Merchant A. This is a synthetic comparison-stage walkthrough, not a field study or complete purchase speed comparison. The page observes individual browser time without a general time-saving percentage. See app/benchmark/walkthrough.tsx.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Primary sources observed 4 October 2026: https://stripe.com/en-hk/pricing (domestic-card 3.4% + HK$2.35, merchant fee); https://www.theclub.com.hk/en/explore/campaigns.html (specified redemption route 5 Clubpoints offset HK$1); https://www.citibank.com.hk/english/credit-cards/pdf/citi-the-club/terms-and-conditions.pdf (December 2025 terms, basic 1 point/HK$20 plus 3 designated-merchant bonus points/HK$20, bonus cap 1,500 per cycle, promotion through 31 Dec 2026, refunds/cancellations reverse points). Fee calculation: 1749*0.034+2.35=61.816, rounded HK$61.82. Conditional HK$1,000 example: 50 basic + 150 bonus = 200 points, HK$40 at the specified route. No test merchant/card is verified eligible. Points are not cash. No rewards reduce an approved demo amount. No actual fee is billed in Stripe test mode. Model cost is not calculated. See docs/FINANCIAL_SOURCES.md.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a proposed roadmap, not a claim of partner integration or commitment. The contribution relevant to The Club is an exact-consent execution boundary between AI comparison and purchase. Current merchants/orders are synthetic, Stripe is test mode, rewards are sourced illustrations, public login provides demo access isolation. A real pilot requires partner authorization, data/contracts, merchant/order APIs, verified reward eligibility, appropriate customer identity/authentication and a production payment ledger/worker. No HKT/Club/eID connection is represented.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 public demo: https://crosscart.vercel.app/. Public source repository: https://github.com/Gout999/CrossCart. Judge evidence: https://crosscart.vercel.app/evidence. Manual comparison: https://crosscart.vercel.app/benchmark. Public test demo password crosscart-demo. Use synthetic billing information and Stripe test card 4242 4242 4242 4242, future expiry, any CVC. No real money or goods move. Final submission form receipt has not been obtained by creating this deck.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8ce7a83ff90448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b8f8c3deb8c4710" /><Relationship Type="http://schemas.openxmlformats.org/officeDocument/2006/relationships/slideLayout" Target="/ppt/slideLayouts/slideLayout1.xml" Id="R435da6c5613a474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35da6c5613a474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dcbb87871ed4d9d" /><Relationship Type="http://schemas.openxmlformats.org/officeDocument/2006/relationships/image" Target="/ppt/media/image.png" Id="R3feb0de5b5d443cd" /><Relationship Type="http://schemas.openxmlformats.org/officeDocument/2006/relationships/notesSlide" Target="/ppt/notesSlides/notesSlide1.xml" Id="R584b58fb2b1d46f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29b0230e10f4cd9" /><Relationship Type="http://schemas.openxmlformats.org/officeDocument/2006/relationships/notesSlide" Target="/ppt/notesSlides/notesSlide2.xml" Id="Rccd54b2d373b4a3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e995ec8da554ca8" /><Relationship Type="http://schemas.openxmlformats.org/officeDocument/2006/relationships/notesSlide" Target="/ppt/notesSlides/notesSlide3.xml" Id="R1bf807dd552a464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720ad8c9fb745c5" /><Relationship Type="http://schemas.openxmlformats.org/officeDocument/2006/relationships/notesSlide" Target="/ppt/notesSlides/notesSlide4.xml" Id="R56084339a64d47c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85350984ffe4e10" /><Relationship Type="http://schemas.openxmlformats.org/officeDocument/2006/relationships/notesSlide" Target="/ppt/notesSlides/notesSlide5.xml" Id="R61a7c0a0e6094c5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9f8b4f3cd8e4afb" /><Relationship Type="http://schemas.openxmlformats.org/officeDocument/2006/relationships/image" Target="/ppt/media/image2.png" Id="Rbc08d1acc2a14ebd" /><Relationship Type="http://schemas.openxmlformats.org/officeDocument/2006/relationships/notesSlide" Target="/ppt/notesSlides/notesSlide6.xml" Id="R58d4b62987ea4d8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d086a9cefb64d6f" /><Relationship Type="http://schemas.openxmlformats.org/officeDocument/2006/relationships/notesSlide" Target="/ppt/notesSlides/notesSlide7.xml" Id="R36633511507f437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ff93a02149b4e29" /><Relationship Type="http://schemas.openxmlformats.org/officeDocument/2006/relationships/notesSlide" Target="/ppt/notesSlides/notesSlide8.xml" Id="R9b395b5e471b41c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945c8dd0d3945e4" /><Relationship Type="http://schemas.openxmlformats.org/officeDocument/2006/relationships/notesSlide" Target="/ppt/notesSlides/notesSlide9.xml" Id="R0dc7538d9ce7480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1f889a0c1a54835" /><Relationship Type="http://schemas.openxmlformats.org/officeDocument/2006/relationships/notesSlide" Target="/ppt/notesSlides/notesSlide10.xml" Id="R5d74ed8437044a9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d736a95f4a44dec" /><Relationship Type="http://schemas.openxmlformats.org/officeDocument/2006/relationships/hyperlink" Target="https://crosscart.vercel.app/" TargetMode="External" Id="Rada1b04e5c474722" /><Relationship Type="http://schemas.openxmlformats.org/officeDocument/2006/relationships/hyperlink" Target="https://github.com/Gout999/CrossCart" TargetMode="External" Id="Rae380d014b2140c4" /><Relationship Type="http://schemas.openxmlformats.org/officeDocument/2006/relationships/notesSlide" Target="/ppt/notesSlides/notesSlide11.xml" Id="Rd8e4975b83db47e7" /></Relationships>
</file>

<file path=ppt/slides/slide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1E180B9-DAF0-4072-9D45-DD1608C379DB}"/>
              </a:ext>
            </a:extLst>
          </p:cNvPr>
          <p:cNvSpPr>
            <a:spLocks xmlns:a="http://schemas.openxmlformats.org/drawingml/2006/main" noGrp="1"/>
          </p:cNvSpPr>
          <p:nvPr/>
        </p:nvSpPr>
        <p:spPr>
          <a:xfrm xmlns:a="http://schemas.openxmlformats.org/drawingml/2006/main">
            <a:off x="685800" y="361950"/>
            <a:ext cx="10820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125" b="1">
                <a:solidFill>
                  <a:srgbClr val="702321"/>
                </a:solidFill>
                <a:latin typeface="Arial"/>
                <a:ea typeface="Arial"/>
                <a:cs typeface="Arial"/>
              </a:defRPr>
            </a:pPr>
            <a:r>
              <a:rPr sz="1125" b="1">
                <a:solidFill>
                  <a:srgbClr val="702321"/>
                </a:solidFill>
                <a:latin typeface="Arial"/>
                <a:ea typeface="Arial"/>
                <a:cs typeface="Arial"/>
              </a:rPr>
              <a:t>FINTECH: AGENTIC COMMERCE / THE CLUB BY HKT</a:t>
            </a:r>
          </a:p>
        </p:txBody>
      </p:sp>
      <p:sp>
        <p:nvSpPr>
          <p:cNvPr id="2" name="">
            <a:extLst xmlns:a="http://schemas.openxmlformats.org/drawingml/2006/main">
              <a:ext uri="{FF2B5EF4-FFF2-40B4-BE49-F238E27FC236}">
                <a16:creationId xmlns:a16="http://schemas.microsoft.com/office/drawing/2014/main" id="{BC813ED9-E89B-40C1-9C5A-407709EE2B67}"/>
              </a:ext>
            </a:extLst>
          </p:cNvPr>
          <p:cNvSpPr>
            <a:spLocks xmlns:a="http://schemas.openxmlformats.org/drawingml/2006/main" noGrp="1"/>
          </p:cNvSpPr>
          <p:nvPr/>
        </p:nvSpPr>
        <p:spPr>
          <a:xfrm xmlns:a="http://schemas.openxmlformats.org/drawingml/2006/main">
            <a:off x="685800" y="885825"/>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t/>
            </a:r>
          </a:p>
        </p:txBody>
      </p:sp>
      <p:sp>
        <p:nvSpPr>
          <p:cNvPr id="3" name="">
            <a:extLst xmlns:a="http://schemas.openxmlformats.org/drawingml/2006/main">
              <a:ext uri="{FF2B5EF4-FFF2-40B4-BE49-F238E27FC236}">
                <a16:creationId xmlns:a16="http://schemas.microsoft.com/office/drawing/2014/main" id="{6B2D2C69-8E8E-46E5-AD7A-19BB627E6E7B}"/>
              </a:ext>
            </a:extLst>
          </p:cNvPr>
          <p:cNvSpPr>
            <a:spLocks xmlns:a="http://schemas.openxmlformats.org/drawingml/2006/main" noGrp="1"/>
          </p:cNvSpPr>
          <p:nvPr/>
        </p:nvSpPr>
        <p:spPr>
          <a:xfrm xmlns:a="http://schemas.openxmlformats.org/drawingml/2006/main">
            <a:off x="685800" y="641985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125" b="1">
                <a:solidFill>
                  <a:srgbClr val="171914"/>
                </a:solidFill>
                <a:latin typeface="Arial"/>
                <a:ea typeface="Arial"/>
                <a:cs typeface="Arial"/>
              </a:defRPr>
            </a:pPr>
            <a:r>
              <a:rPr sz="1125" b="1">
                <a:solidFill>
                  <a:srgbClr val="171914"/>
                </a:solidFill>
                <a:latin typeface="Arial"/>
                <a:ea typeface="Arial"/>
                <a:cs typeface="Arial"/>
              </a:rPr>
              <a:t>CrossCart</a:t>
            </a:r>
          </a:p>
        </p:txBody>
      </p:sp>
      <p:sp>
        <p:nvSpPr>
          <p:cNvPr id="4" name="">
            <a:extLst xmlns:a="http://schemas.openxmlformats.org/drawingml/2006/main">
              <a:ext uri="{FF2B5EF4-FFF2-40B4-BE49-F238E27FC236}">
                <a16:creationId xmlns:a16="http://schemas.microsoft.com/office/drawing/2014/main" id="{A45EFCA9-DC1A-4CA3-BBB7-EA4CD3F4AF85}"/>
              </a:ext>
            </a:extLst>
          </p:cNvPr>
          <p:cNvSpPr>
            <a:spLocks xmlns:a="http://schemas.openxmlformats.org/drawingml/2006/main" noGrp="1"/>
          </p:cNvSpPr>
          <p:nvPr/>
        </p:nvSpPr>
        <p:spPr>
          <a:xfrm xmlns:a="http://schemas.openxmlformats.org/drawingml/2006/main">
            <a:off x="6667500" y="6419850"/>
            <a:ext cx="43243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050">
                <a:solidFill>
                  <a:srgbClr val="696C65"/>
                </a:solidFill>
                <a:latin typeface="Arial"/>
                <a:ea typeface="Arial"/>
                <a:cs typeface="Arial"/>
              </a:defRPr>
            </a:pPr>
            <a:r>
              <a:rPr sz="1050">
                <a:solidFill>
                  <a:srgbClr val="696C65"/>
                </a:solidFill>
                <a:latin typeface="Arial"/>
                <a:ea typeface="Arial"/>
                <a:cs typeface="Arial"/>
              </a:rPr>
              <a:t>Stripe test mode · Synthetic merchants</a:t>
            </a:r>
          </a:p>
        </p:txBody>
      </p:sp>
      <p:sp>
        <p:nvSpPr>
          <p:cNvPr id="5" name="">
            <a:extLst xmlns:a="http://schemas.openxmlformats.org/drawingml/2006/main">
              <a:ext uri="{FF2B5EF4-FFF2-40B4-BE49-F238E27FC236}">
                <a16:creationId xmlns:a16="http://schemas.microsoft.com/office/drawing/2014/main" id="{F8F32876-B83A-4C1E-B1C4-54C6F71801E9}"/>
              </a:ext>
            </a:extLst>
          </p:cNvPr>
          <p:cNvSpPr>
            <a:spLocks xmlns:a="http://schemas.openxmlformats.org/drawingml/2006/main" noGrp="1"/>
          </p:cNvSpPr>
          <p:nvPr/>
        </p:nvSpPr>
        <p:spPr>
          <a:xfrm xmlns:a="http://schemas.openxmlformats.org/drawingml/2006/main">
            <a:off x="11172825" y="640080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200">
                <a:solidFill>
                  <a:srgbClr val="696C65"/>
                </a:solidFill>
                <a:latin typeface="Arial"/>
                <a:ea typeface="Arial"/>
                <a:cs typeface="Arial"/>
              </a:defRPr>
            </a:pPr>
            <a:r>
              <a:rPr sz="1200">
                <a:solidFill>
                  <a:srgbClr val="696C65"/>
                </a:solidFill>
                <a:latin typeface="Arial"/>
                <a:ea typeface="Arial"/>
                <a:cs typeface="Arial"/>
              </a:rPr>
              <a:t>1</a:t>
            </a:r>
          </a:p>
        </p:txBody>
      </p:sp>
      <p:sp>
        <p:nvSpPr>
          <p:cNvPr id="6" name="">
            <a:extLst xmlns:a="http://schemas.openxmlformats.org/drawingml/2006/main">
              <a:ext uri="{FF2B5EF4-FFF2-40B4-BE49-F238E27FC236}">
                <a16:creationId xmlns:a16="http://schemas.microsoft.com/office/drawing/2014/main" id="{86622187-13C7-49C6-9929-68A6281DAE6C}"/>
              </a:ext>
            </a:extLst>
          </p:cNvPr>
          <p:cNvSpPr>
            <a:spLocks xmlns:a="http://schemas.openxmlformats.org/drawingml/2006/main" noGrp="1"/>
          </p:cNvSpPr>
          <p:nvPr/>
        </p:nvSpPr>
        <p:spPr>
          <a:xfrm xmlns:a="http://schemas.openxmlformats.org/drawingml/2006/main">
            <a:off x="685800" y="1524000"/>
            <a:ext cx="6381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7500" b="1">
                <a:solidFill>
                  <a:srgbClr val="171914"/>
                </a:solidFill>
                <a:latin typeface="Arial"/>
                <a:ea typeface="Arial"/>
                <a:cs typeface="Arial"/>
              </a:defRPr>
            </a:pPr>
            <a:r>
              <a:rPr sz="7500" b="1">
                <a:solidFill>
                  <a:srgbClr val="171914"/>
                </a:solidFill>
                <a:latin typeface="Arial"/>
                <a:ea typeface="Arial"/>
                <a:cs typeface="Arial"/>
              </a:rPr>
              <a:t>CrossCart</a:t>
            </a:r>
          </a:p>
        </p:txBody>
      </p:sp>
      <p:sp>
        <p:nvSpPr>
          <p:cNvPr id="7" name="">
            <a:extLst xmlns:a="http://schemas.openxmlformats.org/drawingml/2006/main">
              <a:ext uri="{FF2B5EF4-FFF2-40B4-BE49-F238E27FC236}">
                <a16:creationId xmlns:a16="http://schemas.microsoft.com/office/drawing/2014/main" id="{FEC01960-C4EC-4C2A-ABB5-153BE054D669}"/>
              </a:ext>
            </a:extLst>
          </p:cNvPr>
          <p:cNvSpPr>
            <a:spLocks xmlns:a="http://schemas.openxmlformats.org/drawingml/2006/main" noGrp="1"/>
          </p:cNvSpPr>
          <p:nvPr/>
        </p:nvSpPr>
        <p:spPr>
          <a:xfrm xmlns:a="http://schemas.openxmlformats.org/drawingml/2006/main">
            <a:off x="723900" y="2876550"/>
            <a:ext cx="6381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75" b="1">
                <a:solidFill>
                  <a:srgbClr val="171914"/>
                </a:solidFill>
                <a:latin typeface="Arial"/>
                <a:ea typeface="Arial"/>
                <a:cs typeface="Arial"/>
              </a:defRPr>
            </a:pPr>
            <a:r>
              <a:rPr sz="4575" b="1">
                <a:solidFill>
                  <a:srgbClr val="171914"/>
                </a:solidFill>
                <a:latin typeface="Arial"/>
                <a:ea typeface="Arial"/>
                <a:cs typeface="Arial"/>
              </a:rPr>
              <a:t>Let AI compare.</a:t>
            </a:r>
          </a:p>
        </p:txBody>
      </p:sp>
      <p:sp>
        <p:nvSpPr>
          <p:cNvPr id="8" name="">
            <a:extLst xmlns:a="http://schemas.openxmlformats.org/drawingml/2006/main">
              <a:ext uri="{FF2B5EF4-FFF2-40B4-BE49-F238E27FC236}">
                <a16:creationId xmlns:a16="http://schemas.microsoft.com/office/drawing/2014/main" id="{37C3759D-0DF1-441D-A7A7-5633F951A6F4}"/>
              </a:ext>
            </a:extLst>
          </p:cNvPr>
          <p:cNvSpPr>
            <a:spLocks xmlns:a="http://schemas.openxmlformats.org/drawingml/2006/main" noGrp="1"/>
          </p:cNvSpPr>
          <p:nvPr/>
        </p:nvSpPr>
        <p:spPr>
          <a:xfrm xmlns:a="http://schemas.openxmlformats.org/drawingml/2006/main">
            <a:off x="723900" y="3705225"/>
            <a:ext cx="65722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75" i="1">
                <a:solidFill>
                  <a:srgbClr val="171914"/>
                </a:solidFill>
                <a:latin typeface="Georgia"/>
                <a:ea typeface="Georgia"/>
                <a:cs typeface="Georgia"/>
              </a:defRPr>
            </a:pPr>
            <a:r>
              <a:rPr sz="4575" i="1">
                <a:solidFill>
                  <a:srgbClr val="171914"/>
                </a:solidFill>
                <a:latin typeface="Georgia"/>
                <a:ea typeface="Georgia"/>
                <a:cs typeface="Georgia"/>
              </a:rPr>
              <a:t>Keep the final say.</a:t>
            </a:r>
          </a:p>
        </p:txBody>
      </p:sp>
      <p:sp>
        <p:nvSpPr>
          <p:cNvPr id="9" name="">
            <a:extLst xmlns:a="http://schemas.openxmlformats.org/drawingml/2006/main">
              <a:ext uri="{FF2B5EF4-FFF2-40B4-BE49-F238E27FC236}">
                <a16:creationId xmlns:a16="http://schemas.microsoft.com/office/drawing/2014/main" id="{5F3884D4-9EFF-484D-BC34-499678BF79BF}"/>
              </a:ext>
            </a:extLst>
          </p:cNvPr>
          <p:cNvSpPr>
            <a:spLocks xmlns:a="http://schemas.openxmlformats.org/drawingml/2006/main" noGrp="1"/>
          </p:cNvSpPr>
          <p:nvPr/>
        </p:nvSpPr>
        <p:spPr>
          <a:xfrm xmlns:a="http://schemas.openxmlformats.org/drawingml/2006/main">
            <a:off x="733425" y="4914900"/>
            <a:ext cx="63817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025">
                <a:solidFill>
                  <a:srgbClr val="696C65"/>
                </a:solidFill>
                <a:latin typeface="Arial"/>
                <a:ea typeface="Arial"/>
                <a:cs typeface="Arial"/>
              </a:defRPr>
            </a:pPr>
            <a:r>
              <a:rPr sz="2025">
                <a:solidFill>
                  <a:srgbClr val="696C65"/>
                </a:solidFill>
                <a:latin typeface="Arial"/>
                <a:ea typeface="Arial"/>
                <a:cs typeface="Arial"/>
              </a:rPr>
              <a:t>A shopping agent with exact approval,</a:t>
            </a:r>
          </a:p>
          <a:p xmlns:a="http://schemas.openxmlformats.org/drawingml/2006/main">
            <a:pPr>
              <a:defRPr sz="2025">
                <a:solidFill>
                  <a:srgbClr val="696C65"/>
                </a:solidFill>
                <a:latin typeface="Arial"/>
                <a:ea typeface="Arial"/>
                <a:cs typeface="Arial"/>
              </a:defRPr>
            </a:pPr>
            <a:r>
              <a:rPr sz="2025">
                <a:solidFill>
                  <a:srgbClr val="696C65"/>
                </a:solidFill>
                <a:latin typeface="Arial"/>
                <a:ea typeface="Arial"/>
                <a:cs typeface="Arial"/>
              </a:rPr>
              <a:t>traceable payment and recovery.</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3feb0de5b5d443cd"/>
          <a:stretch xmlns:a="http://schemas.openxmlformats.org/drawingml/2006/main"/>
        </p:blipFill>
        <p:spPr>
          <a:xfrm xmlns:a="http://schemas.openxmlformats.org/drawingml/2006/main">
            <a:off x="7756398" y="1381125"/>
            <a:ext cx="3518154" cy="4629150"/>
          </a:xfrm>
          <a:prstGeom xmlns:a="http://schemas.openxmlformats.org/drawingml/2006/main" prst="rect">
            <a:avLst/>
          </a:prstGeom>
        </p:spPr>
      </p:pic>
    </p:spTree>
    <p:extLst>
      <p:ext uri="{BB962C8B-B14F-4D97-AF65-F5344CB8AC3E}">
        <p14:creationId xmlns:p14="http://schemas.microsoft.com/office/powerpoint/2010/main" val="1526014763"/>
      </p:ext>
    </p:extLst>
  </p:cSld>
</p:sld>
</file>

<file path=ppt/slides/slide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4723158-1F9D-4E03-8A23-16054C8FE39A}"/>
              </a:ext>
            </a:extLst>
          </p:cNvPr>
          <p:cNvSpPr>
            <a:spLocks xmlns:a="http://schemas.openxmlformats.org/drawingml/2006/main" noGrp="1"/>
          </p:cNvSpPr>
          <p:nvPr/>
        </p:nvSpPr>
        <p:spPr>
          <a:xfrm xmlns:a="http://schemas.openxmlformats.org/drawingml/2006/main">
            <a:off x="685800" y="361950"/>
            <a:ext cx="10820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125" b="1">
                <a:solidFill>
                  <a:srgbClr val="702321"/>
                </a:solidFill>
                <a:latin typeface="Arial"/>
                <a:ea typeface="Arial"/>
                <a:cs typeface="Arial"/>
              </a:defRPr>
            </a:pPr>
            <a:r>
              <a:rPr sz="1125" b="1">
                <a:solidFill>
                  <a:srgbClr val="702321"/>
                </a:solidFill>
                <a:latin typeface="Arial"/>
                <a:ea typeface="Arial"/>
                <a:cs typeface="Arial"/>
              </a:rPr>
              <a:t>01 / THE PROBLEM</a:t>
            </a:r>
          </a:p>
        </p:txBody>
      </p:sp>
      <p:sp>
        <p:nvSpPr>
          <p:cNvPr id="2" name="">
            <a:extLst xmlns:a="http://schemas.openxmlformats.org/drawingml/2006/main">
              <a:ext uri="{FF2B5EF4-FFF2-40B4-BE49-F238E27FC236}">
                <a16:creationId xmlns:a16="http://schemas.microsoft.com/office/drawing/2014/main" id="{C0A1D7D3-EE34-4556-A4C3-B229D29D567E}"/>
              </a:ext>
            </a:extLst>
          </p:cNvPr>
          <p:cNvSpPr>
            <a:spLocks xmlns:a="http://schemas.openxmlformats.org/drawingml/2006/main" noGrp="1"/>
          </p:cNvSpPr>
          <p:nvPr/>
        </p:nvSpPr>
        <p:spPr>
          <a:xfrm xmlns:a="http://schemas.openxmlformats.org/drawingml/2006/main">
            <a:off x="685800" y="885825"/>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71914"/>
                </a:solidFill>
                <a:latin typeface="Arial"/>
                <a:ea typeface="Arial"/>
                <a:cs typeface="Arial"/>
              </a:defRPr>
            </a:pPr>
            <a:r>
              <a:rPr sz="3600" b="1">
                <a:solidFill>
                  <a:srgbClr val="171914"/>
                </a:solidFill>
                <a:latin typeface="Arial"/>
                <a:ea typeface="Arial"/>
                <a:cs typeface="Arial"/>
              </a:rPr>
              <a:t>A budget leaves decisions unresolved</a:t>
            </a:r>
          </a:p>
        </p:txBody>
      </p:sp>
      <p:sp>
        <p:nvSpPr>
          <p:cNvPr id="3" name="">
            <a:extLst xmlns:a="http://schemas.openxmlformats.org/drawingml/2006/main">
              <a:ext uri="{FF2B5EF4-FFF2-40B4-BE49-F238E27FC236}">
                <a16:creationId xmlns:a16="http://schemas.microsoft.com/office/drawing/2014/main" id="{97A3628A-6391-476F-837F-67C05C72B349}"/>
              </a:ext>
            </a:extLst>
          </p:cNvPr>
          <p:cNvSpPr>
            <a:spLocks xmlns:a="http://schemas.openxmlformats.org/drawingml/2006/main" noGrp="1"/>
          </p:cNvSpPr>
          <p:nvPr/>
        </p:nvSpPr>
        <p:spPr>
          <a:xfrm xmlns:a="http://schemas.openxmlformats.org/drawingml/2006/main">
            <a:off x="685800" y="641985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125" b="1">
                <a:solidFill>
                  <a:srgbClr val="171914"/>
                </a:solidFill>
                <a:latin typeface="Arial"/>
                <a:ea typeface="Arial"/>
                <a:cs typeface="Arial"/>
              </a:defRPr>
            </a:pPr>
            <a:r>
              <a:rPr sz="1125" b="1">
                <a:solidFill>
                  <a:srgbClr val="171914"/>
                </a:solidFill>
                <a:latin typeface="Arial"/>
                <a:ea typeface="Arial"/>
                <a:cs typeface="Arial"/>
              </a:rPr>
              <a:t>CrossCart</a:t>
            </a:r>
          </a:p>
        </p:txBody>
      </p:sp>
      <p:sp>
        <p:nvSpPr>
          <p:cNvPr id="4" name="">
            <a:extLst xmlns:a="http://schemas.openxmlformats.org/drawingml/2006/main">
              <a:ext uri="{FF2B5EF4-FFF2-40B4-BE49-F238E27FC236}">
                <a16:creationId xmlns:a16="http://schemas.microsoft.com/office/drawing/2014/main" id="{BDF08F70-9E63-48F0-BDD0-D9309BF7342F}"/>
              </a:ext>
            </a:extLst>
          </p:cNvPr>
          <p:cNvSpPr>
            <a:spLocks xmlns:a="http://schemas.openxmlformats.org/drawingml/2006/main" noGrp="1"/>
          </p:cNvSpPr>
          <p:nvPr/>
        </p:nvSpPr>
        <p:spPr>
          <a:xfrm xmlns:a="http://schemas.openxmlformats.org/drawingml/2006/main">
            <a:off x="6667500" y="6419850"/>
            <a:ext cx="43243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050">
                <a:solidFill>
                  <a:srgbClr val="696C65"/>
                </a:solidFill>
                <a:latin typeface="Arial"/>
                <a:ea typeface="Arial"/>
                <a:cs typeface="Arial"/>
              </a:defRPr>
            </a:pPr>
            <a:r>
              <a:rPr sz="1050">
                <a:solidFill>
                  <a:srgbClr val="696C65"/>
                </a:solidFill>
                <a:latin typeface="Arial"/>
                <a:ea typeface="Arial"/>
                <a:cs typeface="Arial"/>
              </a:rPr>
              <a:t>Stripe test mode · Synthetic merchants</a:t>
            </a:r>
          </a:p>
        </p:txBody>
      </p:sp>
      <p:sp>
        <p:nvSpPr>
          <p:cNvPr id="5" name="">
            <a:extLst xmlns:a="http://schemas.openxmlformats.org/drawingml/2006/main">
              <a:ext uri="{FF2B5EF4-FFF2-40B4-BE49-F238E27FC236}">
                <a16:creationId xmlns:a16="http://schemas.microsoft.com/office/drawing/2014/main" id="{BEFFBA05-B0C2-4B2F-AB8D-02388EEAFADB}"/>
              </a:ext>
            </a:extLst>
          </p:cNvPr>
          <p:cNvSpPr>
            <a:spLocks xmlns:a="http://schemas.openxmlformats.org/drawingml/2006/main" noGrp="1"/>
          </p:cNvSpPr>
          <p:nvPr/>
        </p:nvSpPr>
        <p:spPr>
          <a:xfrm xmlns:a="http://schemas.openxmlformats.org/drawingml/2006/main">
            <a:off x="11172825" y="640080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200">
                <a:solidFill>
                  <a:srgbClr val="696C65"/>
                </a:solidFill>
                <a:latin typeface="Arial"/>
                <a:ea typeface="Arial"/>
                <a:cs typeface="Arial"/>
              </a:defRPr>
            </a:pPr>
            <a:r>
              <a:rPr sz="1200">
                <a:solidFill>
                  <a:srgbClr val="696C65"/>
                </a:solidFill>
                <a:latin typeface="Arial"/>
                <a:ea typeface="Arial"/>
                <a:cs typeface="Arial"/>
              </a:rPr>
              <a:t>2</a:t>
            </a:r>
          </a:p>
        </p:txBody>
      </p:sp>
      <p:sp>
        <p:nvSpPr>
          <p:cNvPr id="6" name="">
            <a:extLst xmlns:a="http://schemas.openxmlformats.org/drawingml/2006/main">
              <a:ext uri="{FF2B5EF4-FFF2-40B4-BE49-F238E27FC236}">
                <a16:creationId xmlns:a16="http://schemas.microsoft.com/office/drawing/2014/main" id="{DCEEC061-DF3B-4F71-BC00-309E12088EB5}"/>
              </a:ext>
            </a:extLst>
          </p:cNvPr>
          <p:cNvSpPr>
            <a:spLocks xmlns:a="http://schemas.openxmlformats.org/drawingml/2006/main" noGrp="1"/>
          </p:cNvSpPr>
          <p:nvPr/>
        </p:nvSpPr>
        <p:spPr>
          <a:xfrm xmlns:a="http://schemas.openxmlformats.org/drawingml/2006/main">
            <a:off x="685800" y="2209800"/>
            <a:ext cx="4953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6675" b="1">
                <a:solidFill>
                  <a:srgbClr val="171914"/>
                </a:solidFill>
                <a:latin typeface="Arial"/>
                <a:ea typeface="Arial"/>
                <a:cs typeface="Arial"/>
              </a:defRPr>
            </a:pPr>
            <a:r>
              <a:rPr sz="6675" b="1">
                <a:solidFill>
                  <a:srgbClr val="171914"/>
                </a:solidFill>
                <a:latin typeface="Arial"/>
                <a:ea typeface="Arial"/>
                <a:cs typeface="Arial"/>
              </a:rPr>
              <a:t>HK$1,800</a:t>
            </a:r>
          </a:p>
        </p:txBody>
      </p:sp>
      <p:sp>
        <p:nvSpPr>
          <p:cNvPr id="7" name="">
            <a:extLst xmlns:a="http://schemas.openxmlformats.org/drawingml/2006/main">
              <a:ext uri="{FF2B5EF4-FFF2-40B4-BE49-F238E27FC236}">
                <a16:creationId xmlns:a16="http://schemas.microsoft.com/office/drawing/2014/main" id="{6ECD799A-CD7F-426B-8AE3-3D2E64724936}"/>
              </a:ext>
            </a:extLst>
          </p:cNvPr>
          <p:cNvSpPr>
            <a:spLocks xmlns:a="http://schemas.openxmlformats.org/drawingml/2006/main" noGrp="1"/>
          </p:cNvSpPr>
          <p:nvPr/>
        </p:nvSpPr>
        <p:spPr>
          <a:xfrm xmlns:a="http://schemas.openxmlformats.org/drawingml/2006/main">
            <a:off x="733425" y="3333750"/>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a:solidFill>
                  <a:srgbClr val="696C65"/>
                </a:solidFill>
                <a:latin typeface="Arial"/>
                <a:ea typeface="Arial"/>
                <a:cs typeface="Arial"/>
              </a:defRPr>
            </a:pPr>
            <a:r>
              <a:rPr sz="2100">
                <a:solidFill>
                  <a:srgbClr val="696C65"/>
                </a:solidFill>
                <a:latin typeface="Arial"/>
                <a:ea typeface="Arial"/>
                <a:cs typeface="Arial"/>
              </a:rPr>
              <a:t>Shopping budget</a:t>
            </a:r>
          </a:p>
        </p:txBody>
      </p:sp>
      <p:sp>
        <p:nvSpPr>
          <p:cNvPr id="8" name="">
            <a:extLst xmlns:a="http://schemas.openxmlformats.org/drawingml/2006/main">
              <a:ext uri="{FF2B5EF4-FFF2-40B4-BE49-F238E27FC236}">
                <a16:creationId xmlns:a16="http://schemas.microsoft.com/office/drawing/2014/main" id="{0E38FC71-06DC-4317-BB6F-E881530CC459}"/>
              </a:ext>
            </a:extLst>
          </p:cNvPr>
          <p:cNvSpPr>
            <a:spLocks xmlns:a="http://schemas.openxmlformats.org/drawingml/2006/main" noGrp="1"/>
          </p:cNvSpPr>
          <p:nvPr/>
        </p:nvSpPr>
        <p:spPr>
          <a:xfrm xmlns:a="http://schemas.openxmlformats.org/drawingml/2006/main">
            <a:off x="6619875" y="2209800"/>
            <a:ext cx="4762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6675" b="1">
                <a:solidFill>
                  <a:srgbClr val="702321"/>
                </a:solidFill>
                <a:latin typeface="Arial"/>
                <a:ea typeface="Arial"/>
                <a:cs typeface="Arial"/>
              </a:defRPr>
            </a:pPr>
            <a:r>
              <a:rPr sz="6675" b="1">
                <a:solidFill>
                  <a:srgbClr val="702321"/>
                </a:solidFill>
                <a:latin typeface="Arial"/>
                <a:ea typeface="Arial"/>
                <a:cs typeface="Arial"/>
              </a:rPr>
              <a:t>HK$1,749</a:t>
            </a:r>
          </a:p>
        </p:txBody>
      </p:sp>
      <p:sp>
        <p:nvSpPr>
          <p:cNvPr id="9" name="">
            <a:extLst xmlns:a="http://schemas.openxmlformats.org/drawingml/2006/main">
              <a:ext uri="{FF2B5EF4-FFF2-40B4-BE49-F238E27FC236}">
                <a16:creationId xmlns:a16="http://schemas.microsoft.com/office/drawing/2014/main" id="{F0B030E7-7163-420A-82B0-B3EC7980A6A8}"/>
              </a:ext>
            </a:extLst>
          </p:cNvPr>
          <p:cNvSpPr>
            <a:spLocks xmlns:a="http://schemas.openxmlformats.org/drawingml/2006/main" noGrp="1"/>
          </p:cNvSpPr>
          <p:nvPr/>
        </p:nvSpPr>
        <p:spPr>
          <a:xfrm xmlns:a="http://schemas.openxmlformats.org/drawingml/2006/main">
            <a:off x="6667500" y="3333750"/>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a:solidFill>
                  <a:srgbClr val="702321"/>
                </a:solidFill>
                <a:latin typeface="Arial"/>
                <a:ea typeface="Arial"/>
                <a:cs typeface="Arial"/>
              </a:defRPr>
            </a:pPr>
            <a:r>
              <a:rPr sz="2100">
                <a:solidFill>
                  <a:srgbClr val="702321"/>
                </a:solidFill>
                <a:latin typeface="Arial"/>
                <a:ea typeface="Arial"/>
                <a:cs typeface="Arial"/>
              </a:rPr>
              <a:t>One approved purchase</a:t>
            </a:r>
          </a:p>
        </p:txBody>
      </p:sp>
      <p:sp>
        <p:nvSpPr>
          <p:cNvPr id="10" name="">
            <a:extLst xmlns:a="http://schemas.openxmlformats.org/drawingml/2006/main">
              <a:ext uri="{FF2B5EF4-FFF2-40B4-BE49-F238E27FC236}">
                <a16:creationId xmlns:a16="http://schemas.microsoft.com/office/drawing/2014/main" id="{5D9111ED-C6E0-4C76-8EC0-EAF7EC38880D}"/>
              </a:ext>
            </a:extLst>
          </p:cNvPr>
          <p:cNvSpPr>
            <a:spLocks xmlns:a="http://schemas.openxmlformats.org/drawingml/2006/main" noGrp="1"/>
          </p:cNvSpPr>
          <p:nvPr/>
        </p:nvSpPr>
        <p:spPr>
          <a:xfrm xmlns:a="http://schemas.openxmlformats.org/drawingml/2006/main">
            <a:off x="733425" y="4162425"/>
            <a:ext cx="1028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400">
                <a:solidFill>
                  <a:srgbClr val="171914"/>
                </a:solidFill>
                <a:latin typeface="Arial"/>
                <a:ea typeface="Arial"/>
                <a:cs typeface="Arial"/>
              </a:defRPr>
            </a:pPr>
            <a:r>
              <a:rPr sz="2400">
                <a:solidFill>
                  <a:srgbClr val="171914"/>
                </a:solidFill>
                <a:latin typeface="Arial"/>
                <a:ea typeface="Arial"/>
                <a:cs typeface="Arial"/>
              </a:rPr>
              <a:t>A buyer still needs to choose the seller, delivered total, warranty and delivery date.</a:t>
            </a:r>
          </a:p>
        </p:txBody>
      </p:sp>
      <p:sp>
        <p:nvSpPr>
          <p:cNvPr id="11" name="">
            <a:extLst xmlns:a="http://schemas.openxmlformats.org/drawingml/2006/main">
              <a:ext uri="{FF2B5EF4-FFF2-40B4-BE49-F238E27FC236}">
                <a16:creationId xmlns:a16="http://schemas.microsoft.com/office/drawing/2014/main" id="{60F73C3D-22DB-463F-B9DD-20BDDD715174}"/>
              </a:ext>
            </a:extLst>
          </p:cNvPr>
          <p:cNvSpPr>
            <a:spLocks xmlns:a="http://schemas.openxmlformats.org/drawingml/2006/main" noGrp="1"/>
          </p:cNvSpPr>
          <p:nvPr/>
        </p:nvSpPr>
        <p:spPr>
          <a:xfrm xmlns:a="http://schemas.openxmlformats.org/drawingml/2006/main">
            <a:off x="733425" y="5143500"/>
            <a:ext cx="10191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025">
                <a:solidFill>
                  <a:srgbClr val="696C65"/>
                </a:solidFill>
                <a:latin typeface="Arial"/>
                <a:ea typeface="Arial"/>
                <a:cs typeface="Arial"/>
              </a:defRPr>
            </a:pPr>
            <a:r>
              <a:rPr sz="2025">
                <a:solidFill>
                  <a:srgbClr val="696C65"/>
                </a:solidFill>
                <a:latin typeface="Arial"/>
                <a:ea typeface="Arial"/>
                <a:cs typeface="Arial"/>
              </a:rPr>
              <a:t>CrossCart records those choices before a payment starts. A changed quote needs a new approval.</a:t>
            </a:r>
          </a:p>
        </p:txBody>
      </p:sp>
    </p:spTree>
    <p:extLst>
      <p:ext uri="{BB962C8B-B14F-4D97-AF65-F5344CB8AC3E}">
        <p14:creationId xmlns:p14="http://schemas.microsoft.com/office/powerpoint/2010/main" val="1794412817"/>
      </p:ext>
    </p:extLst>
  </p:cSld>
</p:sld>
</file>

<file path=ppt/slides/slide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BF9686E-5B0D-498F-A8A1-1312EDA11439}"/>
              </a:ext>
            </a:extLst>
          </p:cNvPr>
          <p:cNvSpPr>
            <a:spLocks xmlns:a="http://schemas.openxmlformats.org/drawingml/2006/main" noGrp="1"/>
          </p:cNvSpPr>
          <p:nvPr/>
        </p:nvSpPr>
        <p:spPr>
          <a:xfrm xmlns:a="http://schemas.openxmlformats.org/drawingml/2006/main">
            <a:off x="685800" y="361950"/>
            <a:ext cx="10820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125" b="1">
                <a:solidFill>
                  <a:srgbClr val="702321"/>
                </a:solidFill>
                <a:latin typeface="Arial"/>
                <a:ea typeface="Arial"/>
                <a:cs typeface="Arial"/>
              </a:defRPr>
            </a:pPr>
            <a:r>
              <a:rPr sz="1125" b="1">
                <a:solidFill>
                  <a:srgbClr val="702321"/>
                </a:solidFill>
                <a:latin typeface="Arial"/>
                <a:ea typeface="Arial"/>
                <a:cs typeface="Arial"/>
              </a:rPr>
              <a:t>02 / THE SHOPPING AGENT</a:t>
            </a:r>
          </a:p>
        </p:txBody>
      </p:sp>
      <p:sp>
        <p:nvSpPr>
          <p:cNvPr id="2" name="">
            <a:extLst xmlns:a="http://schemas.openxmlformats.org/drawingml/2006/main">
              <a:ext uri="{FF2B5EF4-FFF2-40B4-BE49-F238E27FC236}">
                <a16:creationId xmlns:a16="http://schemas.microsoft.com/office/drawing/2014/main" id="{23DF527F-A702-4591-91D1-DDB5D04FDAD2}"/>
              </a:ext>
            </a:extLst>
          </p:cNvPr>
          <p:cNvSpPr>
            <a:spLocks xmlns:a="http://schemas.openxmlformats.org/drawingml/2006/main" noGrp="1"/>
          </p:cNvSpPr>
          <p:nvPr/>
        </p:nvSpPr>
        <p:spPr>
          <a:xfrm xmlns:a="http://schemas.openxmlformats.org/drawingml/2006/main">
            <a:off x="685800" y="885825"/>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71914"/>
                </a:solidFill>
                <a:latin typeface="Arial"/>
                <a:ea typeface="Arial"/>
                <a:cs typeface="Arial"/>
              </a:defRPr>
            </a:pPr>
            <a:r>
              <a:rPr sz="3600" b="1">
                <a:solidFill>
                  <a:srgbClr val="171914"/>
                </a:solidFill>
                <a:latin typeface="Arial"/>
                <a:ea typeface="Arial"/>
                <a:cs typeface="Arial"/>
              </a:rPr>
              <a:t>The cheapest offer can fail the request</a:t>
            </a:r>
          </a:p>
        </p:txBody>
      </p:sp>
      <p:sp>
        <p:nvSpPr>
          <p:cNvPr id="3" name="">
            <a:extLst xmlns:a="http://schemas.openxmlformats.org/drawingml/2006/main">
              <a:ext uri="{FF2B5EF4-FFF2-40B4-BE49-F238E27FC236}">
                <a16:creationId xmlns:a16="http://schemas.microsoft.com/office/drawing/2014/main" id="{222BA294-DCC7-4031-B6B8-2CDDA5F35878}"/>
              </a:ext>
            </a:extLst>
          </p:cNvPr>
          <p:cNvSpPr>
            <a:spLocks xmlns:a="http://schemas.openxmlformats.org/drawingml/2006/main" noGrp="1"/>
          </p:cNvSpPr>
          <p:nvPr/>
        </p:nvSpPr>
        <p:spPr>
          <a:xfrm xmlns:a="http://schemas.openxmlformats.org/drawingml/2006/main">
            <a:off x="685800" y="641985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125" b="1">
                <a:solidFill>
                  <a:srgbClr val="171914"/>
                </a:solidFill>
                <a:latin typeface="Arial"/>
                <a:ea typeface="Arial"/>
                <a:cs typeface="Arial"/>
              </a:defRPr>
            </a:pPr>
            <a:r>
              <a:rPr sz="1125" b="1">
                <a:solidFill>
                  <a:srgbClr val="171914"/>
                </a:solidFill>
                <a:latin typeface="Arial"/>
                <a:ea typeface="Arial"/>
                <a:cs typeface="Arial"/>
              </a:rPr>
              <a:t>CrossCart</a:t>
            </a:r>
          </a:p>
        </p:txBody>
      </p:sp>
      <p:sp>
        <p:nvSpPr>
          <p:cNvPr id="4" name="">
            <a:extLst xmlns:a="http://schemas.openxmlformats.org/drawingml/2006/main">
              <a:ext uri="{FF2B5EF4-FFF2-40B4-BE49-F238E27FC236}">
                <a16:creationId xmlns:a16="http://schemas.microsoft.com/office/drawing/2014/main" id="{A4F926E7-9946-4567-A15A-08266AC87195}"/>
              </a:ext>
            </a:extLst>
          </p:cNvPr>
          <p:cNvSpPr>
            <a:spLocks xmlns:a="http://schemas.openxmlformats.org/drawingml/2006/main" noGrp="1"/>
          </p:cNvSpPr>
          <p:nvPr/>
        </p:nvSpPr>
        <p:spPr>
          <a:xfrm xmlns:a="http://schemas.openxmlformats.org/drawingml/2006/main">
            <a:off x="6667500" y="6419850"/>
            <a:ext cx="43243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050">
                <a:solidFill>
                  <a:srgbClr val="696C65"/>
                </a:solidFill>
                <a:latin typeface="Arial"/>
                <a:ea typeface="Arial"/>
                <a:cs typeface="Arial"/>
              </a:defRPr>
            </a:pPr>
            <a:r>
              <a:rPr sz="1050">
                <a:solidFill>
                  <a:srgbClr val="696C65"/>
                </a:solidFill>
                <a:latin typeface="Arial"/>
                <a:ea typeface="Arial"/>
                <a:cs typeface="Arial"/>
              </a:rPr>
              <a:t>Stripe test mode · Synthetic merchants</a:t>
            </a:r>
          </a:p>
        </p:txBody>
      </p:sp>
      <p:sp>
        <p:nvSpPr>
          <p:cNvPr id="5" name="">
            <a:extLst xmlns:a="http://schemas.openxmlformats.org/drawingml/2006/main">
              <a:ext uri="{FF2B5EF4-FFF2-40B4-BE49-F238E27FC236}">
                <a16:creationId xmlns:a16="http://schemas.microsoft.com/office/drawing/2014/main" id="{F4B2EB4A-EB86-4ED1-80F6-C4100D07FA03}"/>
              </a:ext>
            </a:extLst>
          </p:cNvPr>
          <p:cNvSpPr>
            <a:spLocks xmlns:a="http://schemas.openxmlformats.org/drawingml/2006/main" noGrp="1"/>
          </p:cNvSpPr>
          <p:nvPr/>
        </p:nvSpPr>
        <p:spPr>
          <a:xfrm xmlns:a="http://schemas.openxmlformats.org/drawingml/2006/main">
            <a:off x="11172825" y="640080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200">
                <a:solidFill>
                  <a:srgbClr val="696C65"/>
                </a:solidFill>
                <a:latin typeface="Arial"/>
                <a:ea typeface="Arial"/>
                <a:cs typeface="Arial"/>
              </a:defRPr>
            </a:pPr>
            <a:r>
              <a:rPr sz="1200">
                <a:solidFill>
                  <a:srgbClr val="696C65"/>
                </a:solidFill>
                <a:latin typeface="Arial"/>
                <a:ea typeface="Arial"/>
                <a:cs typeface="Arial"/>
              </a:rPr>
              <a:t>3</a:t>
            </a:r>
          </a:p>
        </p:txBody>
      </p:sp>
      <p:sp>
        <p:nvSpPr>
          <p:cNvPr id="6" name="">
            <a:extLst xmlns:a="http://schemas.openxmlformats.org/drawingml/2006/main">
              <a:ext uri="{FF2B5EF4-FFF2-40B4-BE49-F238E27FC236}">
                <a16:creationId xmlns:a16="http://schemas.microsoft.com/office/drawing/2014/main" id="{6B03E425-5048-4497-8499-353F8F418710}"/>
              </a:ext>
            </a:extLst>
          </p:cNvPr>
          <p:cNvSpPr>
            <a:spLocks xmlns:a="http://schemas.openxmlformats.org/drawingml/2006/main" noGrp="1"/>
          </p:cNvSpPr>
          <p:nvPr/>
        </p:nvSpPr>
        <p:spPr>
          <a:xfrm xmlns:a="http://schemas.openxmlformats.org/drawingml/2006/main">
            <a:off x="685800" y="17335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a:solidFill>
                  <a:srgbClr val="696C65"/>
                </a:solidFill>
                <a:latin typeface="Arial"/>
                <a:ea typeface="Arial"/>
                <a:cs typeface="Arial"/>
              </a:defRPr>
            </a:pPr>
            <a:r>
              <a:rPr sz="1875">
                <a:solidFill>
                  <a:srgbClr val="696C65"/>
                </a:solidFill>
                <a:latin typeface="Arial"/>
                <a:ea typeface="Arial"/>
                <a:cs typeface="Arial"/>
              </a:rPr>
              <a:t>Headphones. Official warranty. Within two days. Delivered total below HK$1,800.</a:t>
            </a:r>
          </a:p>
        </p:txBody>
      </p:sp>
      <p:graphicFrame>
        <p:nvGraphicFramePr>
          <p:cNvPr id="15" name=""/>
          <p:cNvGraphicFramePr/>
          <p:nvPr/>
        </p:nvGraphicFramePr>
        <p:xfrm>
          <a:off xmlns:a="http://schemas.openxmlformats.org/drawingml/2006/main" x="685800" y="2400300"/>
          <a:ext xmlns:a="http://schemas.openxmlformats.org/drawingml/2006/main" cx="10820400" cy="2762250"/>
        </p:xfrm>
        <a:graphic xmlns:a="http://schemas.openxmlformats.org/drawingml/2006/main">
          <a:graphicData uri="http://schemas.openxmlformats.org/drawingml/2006/table">
            <a:tbl>
              <a:tblPr/>
              <a:tblGrid>
                <a:gridCol w="2743200"/>
                <a:gridCol w="2190750"/>
                <a:gridCol w="2247900"/>
                <a:gridCol w="3638550"/>
              </a:tblGrid>
              <a:tr h="533400">
                <a:tc>
                  <a:txBody>
                    <a:bodyPr/>
                    <a:lstStyle/>
                    <a:p>
                      <a:r>
                        <a:rPr sz="1500" b="1">
                          <a:solidFill>
                            <a:srgbClr val="FFFFFF"/>
                          </a:solidFill>
                          <a:latin typeface="Arial"/>
                          <a:ea typeface="Arial"/>
                          <a:cs typeface="Arial"/>
                        </a:rPr>
                        <a:t>Demo merchant</a:t>
                      </a:r>
                    </a:p>
                  </a:txBody>
                  <a:tcPr marL="171450" marR="171450" marT="152400" marB="152400" anchor="ctr">
                    <a:solidFill>
                      <a:srgbClr val="702321"/>
                    </a:solidFill>
                  </a:tcPr>
                </a:tc>
                <a:tc>
                  <a:txBody>
                    <a:bodyPr/>
                    <a:lstStyle/>
                    <a:p>
                      <a:r>
                        <a:rPr sz="1500" b="1">
                          <a:solidFill>
                            <a:srgbClr val="FFFFFF"/>
                          </a:solidFill>
                          <a:latin typeface="Arial"/>
                          <a:ea typeface="Arial"/>
                          <a:cs typeface="Arial"/>
                        </a:rPr>
                        <a:t>Delivered total</a:t>
                      </a:r>
                    </a:p>
                  </a:txBody>
                  <a:tcPr marL="171450" marR="171450" marT="152400" marB="152400" anchor="ctr">
                    <a:solidFill>
                      <a:srgbClr val="702321"/>
                    </a:solidFill>
                  </a:tcPr>
                </a:tc>
                <a:tc>
                  <a:txBody>
                    <a:bodyPr/>
                    <a:lstStyle/>
                    <a:p>
                      <a:r>
                        <a:rPr sz="1500" b="1">
                          <a:solidFill>
                            <a:srgbClr val="FFFFFF"/>
                          </a:solidFill>
                          <a:latin typeface="Arial"/>
                          <a:ea typeface="Arial"/>
                          <a:cs typeface="Arial"/>
                        </a:rPr>
                        <a:t>Warranty</a:t>
                      </a:r>
                    </a:p>
                  </a:txBody>
                  <a:tcPr marL="171450" marR="171450" marT="152400" marB="152400" anchor="ctr">
                    <a:solidFill>
                      <a:srgbClr val="702321"/>
                    </a:solidFill>
                  </a:tcPr>
                </a:tc>
                <a:tc>
                  <a:txBody>
                    <a:bodyPr/>
                    <a:lstStyle/>
                    <a:p>
                      <a:r>
                        <a:rPr sz="1500" b="1">
                          <a:solidFill>
                            <a:srgbClr val="FFFFFF"/>
                          </a:solidFill>
                          <a:latin typeface="Arial"/>
                          <a:ea typeface="Arial"/>
                          <a:cs typeface="Arial"/>
                        </a:rPr>
                        <a:t>Rule outcome</a:t>
                      </a:r>
                    </a:p>
                  </a:txBody>
                  <a:tcPr marL="171450" marR="171450" marT="152400" marB="152400" anchor="ctr">
                    <a:solidFill>
                      <a:srgbClr val="702321"/>
                    </a:solidFill>
                  </a:tcPr>
                </a:tc>
              </a:tr>
              <a:tr h="742950">
                <a:tc>
                  <a:txBody>
                    <a:bodyPr/>
                    <a:lstStyle/>
                    <a:p>
                      <a:r>
                        <a:rPr sz="1800">
                          <a:solidFill>
                            <a:srgbClr val="171914"/>
                          </a:solidFill>
                          <a:latin typeface="Arial"/>
                          <a:ea typeface="Arial"/>
                          <a:cs typeface="Arial"/>
                        </a:rPr>
                        <a:t>Merchant A</a:t>
                      </a:r>
                    </a:p>
                  </a:txBody>
                  <a:tcPr marL="171450" marR="171450" marT="152400" marB="152400" anchor="ctr">
                    <a:solidFill>
                      <a:srgbClr val="F8F7F2"/>
                    </a:solidFill>
                  </a:tcPr>
                </a:tc>
                <a:tc>
                  <a:txBody>
                    <a:bodyPr/>
                    <a:lstStyle/>
                    <a:p>
                      <a:r>
                        <a:rPr sz="1800">
                          <a:solidFill>
                            <a:srgbClr val="171914"/>
                          </a:solidFill>
                          <a:latin typeface="Arial"/>
                          <a:ea typeface="Arial"/>
                          <a:cs typeface="Arial"/>
                        </a:rPr>
                        <a:t>HK$1,749</a:t>
                      </a:r>
                    </a:p>
                  </a:txBody>
                  <a:tcPr marL="171450" marR="171450" marT="152400" marB="152400" anchor="ctr">
                    <a:solidFill>
                      <a:srgbClr val="F8F7F2"/>
                    </a:solidFill>
                  </a:tcPr>
                </a:tc>
                <a:tc>
                  <a:txBody>
                    <a:bodyPr/>
                    <a:lstStyle/>
                    <a:p>
                      <a:r>
                        <a:rPr sz="1800">
                          <a:solidFill>
                            <a:srgbClr val="171914"/>
                          </a:solidFill>
                          <a:latin typeface="Arial"/>
                          <a:ea typeface="Arial"/>
                          <a:cs typeface="Arial"/>
                        </a:rPr>
                        <a:t>Official</a:t>
                      </a:r>
                    </a:p>
                  </a:txBody>
                  <a:tcPr marL="171450" marR="171450" marT="152400" marB="152400" anchor="ctr">
                    <a:solidFill>
                      <a:srgbClr val="F8F7F2"/>
                    </a:solidFill>
                  </a:tcPr>
                </a:tc>
                <a:tc>
                  <a:txBody>
                    <a:bodyPr/>
                    <a:lstStyle/>
                    <a:p>
                      <a:r>
                        <a:rPr sz="1800">
                          <a:solidFill>
                            <a:srgbClr val="171914"/>
                          </a:solidFill>
                          <a:latin typeface="Arial"/>
                          <a:ea typeface="Arial"/>
                          <a:cs typeface="Arial"/>
                        </a:rPr>
                        <a:t>Eligible</a:t>
                      </a:r>
                    </a:p>
                  </a:txBody>
                  <a:tcPr marL="171450" marR="171450" marT="152400" marB="152400" anchor="ctr">
                    <a:solidFill>
                      <a:srgbClr val="F8F7F2"/>
                    </a:solidFill>
                  </a:tcPr>
                </a:tc>
              </a:tr>
              <a:tr h="742950">
                <a:tc>
                  <a:txBody>
                    <a:bodyPr/>
                    <a:lstStyle/>
                    <a:p>
                      <a:r>
                        <a:rPr sz="1800">
                          <a:solidFill>
                            <a:srgbClr val="171914"/>
                          </a:solidFill>
                          <a:latin typeface="Arial"/>
                          <a:ea typeface="Arial"/>
                          <a:cs typeface="Arial"/>
                        </a:rPr>
                        <a:t>Merchant B</a:t>
                      </a:r>
                    </a:p>
                  </a:txBody>
                  <a:tcPr marL="171450" marR="171450" marT="152400" marB="152400" anchor="ctr">
                    <a:solidFill>
                      <a:srgbClr val="F8F7F2"/>
                    </a:solidFill>
                  </a:tcPr>
                </a:tc>
                <a:tc>
                  <a:txBody>
                    <a:bodyPr/>
                    <a:lstStyle/>
                    <a:p>
                      <a:r>
                        <a:rPr sz="1800">
                          <a:solidFill>
                            <a:srgbClr val="171914"/>
                          </a:solidFill>
                          <a:latin typeface="Arial"/>
                          <a:ea typeface="Arial"/>
                          <a:cs typeface="Arial"/>
                        </a:rPr>
                        <a:t>HK$1,699</a:t>
                      </a:r>
                    </a:p>
                  </a:txBody>
                  <a:tcPr marL="171450" marR="171450" marT="152400" marB="152400" anchor="ctr">
                    <a:solidFill>
                      <a:srgbClr val="F8F7F2"/>
                    </a:solidFill>
                  </a:tcPr>
                </a:tc>
                <a:tc>
                  <a:txBody>
                    <a:bodyPr/>
                    <a:lstStyle/>
                    <a:p>
                      <a:r>
                        <a:rPr sz="1800">
                          <a:solidFill>
                            <a:srgbClr val="171914"/>
                          </a:solidFill>
                          <a:latin typeface="Arial"/>
                          <a:ea typeface="Arial"/>
                          <a:cs typeface="Arial"/>
                        </a:rPr>
                        <a:t>Third-party</a:t>
                      </a:r>
                    </a:p>
                  </a:txBody>
                  <a:tcPr marL="171450" marR="171450" marT="152400" marB="152400" anchor="ctr">
                    <a:solidFill>
                      <a:srgbClr val="F8F7F2"/>
                    </a:solidFill>
                  </a:tcPr>
                </a:tc>
                <a:tc>
                  <a:txBody>
                    <a:bodyPr/>
                    <a:lstStyle/>
                    <a:p>
                      <a:r>
                        <a:rPr sz="1800">
                          <a:solidFill>
                            <a:srgbClr val="171914"/>
                          </a:solidFill>
                          <a:latin typeface="Arial"/>
                          <a:ea typeface="Arial"/>
                          <a:cs typeface="Arial"/>
                        </a:rPr>
                        <a:t>Different warranty</a:t>
                      </a:r>
                    </a:p>
                  </a:txBody>
                  <a:tcPr marL="171450" marR="171450" marT="152400" marB="152400" anchor="ctr">
                    <a:solidFill>
                      <a:srgbClr val="F8F7F2"/>
                    </a:solidFill>
                  </a:tcPr>
                </a:tc>
              </a:tr>
              <a:tr h="742950">
                <a:tc>
                  <a:txBody>
                    <a:bodyPr/>
                    <a:lstStyle/>
                    <a:p>
                      <a:r>
                        <a:rPr sz="1800">
                          <a:solidFill>
                            <a:srgbClr val="171914"/>
                          </a:solidFill>
                          <a:latin typeface="Arial"/>
                          <a:ea typeface="Arial"/>
                          <a:cs typeface="Arial"/>
                        </a:rPr>
                        <a:t>Merchant C</a:t>
                      </a:r>
                    </a:p>
                  </a:txBody>
                  <a:tcPr marL="171450" marR="171450" marT="152400" marB="152400" anchor="ctr">
                    <a:solidFill>
                      <a:srgbClr val="F8F7F2"/>
                    </a:solidFill>
                  </a:tcPr>
                </a:tc>
                <a:tc>
                  <a:txBody>
                    <a:bodyPr/>
                    <a:lstStyle/>
                    <a:p>
                      <a:r>
                        <a:rPr sz="1800">
                          <a:solidFill>
                            <a:srgbClr val="171914"/>
                          </a:solidFill>
                          <a:latin typeface="Arial"/>
                          <a:ea typeface="Arial"/>
                          <a:cs typeface="Arial"/>
                        </a:rPr>
                        <a:t>HK$1,829</a:t>
                      </a:r>
                    </a:p>
                  </a:txBody>
                  <a:tcPr marL="171450" marR="171450" marT="152400" marB="152400" anchor="ctr">
                    <a:solidFill>
                      <a:srgbClr val="F8F7F2"/>
                    </a:solidFill>
                  </a:tcPr>
                </a:tc>
                <a:tc>
                  <a:txBody>
                    <a:bodyPr/>
                    <a:lstStyle/>
                    <a:p>
                      <a:r>
                        <a:rPr sz="1800">
                          <a:solidFill>
                            <a:srgbClr val="171914"/>
                          </a:solidFill>
                          <a:latin typeface="Arial"/>
                          <a:ea typeface="Arial"/>
                          <a:cs typeface="Arial"/>
                        </a:rPr>
                        <a:t>Official</a:t>
                      </a:r>
                    </a:p>
                  </a:txBody>
                  <a:tcPr marL="171450" marR="171450" marT="152400" marB="152400" anchor="ctr">
                    <a:solidFill>
                      <a:srgbClr val="F8F7F2"/>
                    </a:solidFill>
                  </a:tcPr>
                </a:tc>
                <a:tc>
                  <a:txBody>
                    <a:bodyPr/>
                    <a:lstStyle/>
                    <a:p>
                      <a:r>
                        <a:rPr sz="1800">
                          <a:solidFill>
                            <a:srgbClr val="171914"/>
                          </a:solidFill>
                          <a:latin typeface="Arial"/>
                          <a:ea typeface="Arial"/>
                          <a:cs typeface="Arial"/>
                        </a:rPr>
                        <a:t>Over budget</a:t>
                      </a:r>
                    </a:p>
                  </a:txBody>
                  <a:tcPr marL="171450" marR="171450" marT="152400" marB="152400" anchor="ctr">
                    <a:solidFill>
                      <a:srgbClr val="F8F7F2"/>
                    </a:solidFill>
                  </a:tcPr>
                </a:tc>
              </a:tr>
            </a:tbl>
          </a:graphicData>
        </a:graphic>
      </p:graphicFrame>
      <p:sp>
        <p:nvSpPr>
          <p:cNvPr id="8" name="">
            <a:extLst xmlns:a="http://schemas.openxmlformats.org/drawingml/2006/main">
              <a:ext uri="{FF2B5EF4-FFF2-40B4-BE49-F238E27FC236}">
                <a16:creationId xmlns:a16="http://schemas.microsoft.com/office/drawing/2014/main" id="{EED8E7F7-224C-4AB1-B894-F08F99ED4C7F}"/>
              </a:ext>
            </a:extLst>
          </p:cNvPr>
          <p:cNvSpPr>
            <a:spLocks xmlns:a="http://schemas.openxmlformats.org/drawingml/2006/main" noGrp="1"/>
          </p:cNvSpPr>
          <p:nvPr/>
        </p:nvSpPr>
        <p:spPr>
          <a:xfrm xmlns:a="http://schemas.openxmlformats.org/drawingml/2006/main">
            <a:off x="685800" y="5486400"/>
            <a:ext cx="10572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a:solidFill>
                  <a:srgbClr val="171914"/>
                </a:solidFill>
                <a:latin typeface="Arial"/>
                <a:ea typeface="Arial"/>
                <a:cs typeface="Arial"/>
              </a:defRPr>
            </a:pPr>
            <a:r>
              <a:rPr sz="1950">
                <a:solidFill>
                  <a:srgbClr val="171914"/>
                </a:solidFill>
                <a:latin typeface="Arial"/>
                <a:ea typeface="Arial"/>
                <a:cs typeface="Arial"/>
              </a:rPr>
              <a:t>AI interprets and compares. The buyer confirms requirements and approves Merchant A.</a:t>
            </a:r>
          </a:p>
        </p:txBody>
      </p:sp>
    </p:spTree>
    <p:extLst>
      <p:ext uri="{BB962C8B-B14F-4D97-AF65-F5344CB8AC3E}">
        <p14:creationId xmlns:p14="http://schemas.microsoft.com/office/powerpoint/2010/main" val="1220164848"/>
      </p:ext>
    </p:extLst>
  </p:cSld>
</p:sld>
</file>

<file path=ppt/slides/slide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E90AB77C-E0B3-4A4C-BF18-A03834B00849}"/>
              </a:ext>
            </a:extLst>
          </p:cNvPr>
          <p:cNvSpPr>
            <a:spLocks xmlns:a="http://schemas.openxmlformats.org/drawingml/2006/main" noGrp="1"/>
          </p:cNvSpPr>
          <p:nvPr/>
        </p:nvSpPr>
        <p:spPr>
          <a:xfrm xmlns:a="http://schemas.openxmlformats.org/drawingml/2006/main">
            <a:off x="685800" y="361950"/>
            <a:ext cx="10820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125" b="1">
                <a:solidFill>
                  <a:srgbClr val="702321"/>
                </a:solidFill>
                <a:latin typeface="Arial"/>
                <a:ea typeface="Arial"/>
                <a:cs typeface="Arial"/>
              </a:defRPr>
            </a:pPr>
            <a:r>
              <a:rPr sz="1125" b="1">
                <a:solidFill>
                  <a:srgbClr val="702321"/>
                </a:solidFill>
                <a:latin typeface="Arial"/>
                <a:ea typeface="Arial"/>
                <a:cs typeface="Arial"/>
              </a:rPr>
              <a:t>03 / EXACT CONSENT</a:t>
            </a:r>
          </a:p>
        </p:txBody>
      </p:sp>
      <p:sp>
        <p:nvSpPr>
          <p:cNvPr id="2" name="">
            <a:extLst xmlns:a="http://schemas.openxmlformats.org/drawingml/2006/main">
              <a:ext uri="{FF2B5EF4-FFF2-40B4-BE49-F238E27FC236}">
                <a16:creationId xmlns:a16="http://schemas.microsoft.com/office/drawing/2014/main" id="{0D191F93-C8FE-455D-9A6E-9A050C4A9531}"/>
              </a:ext>
            </a:extLst>
          </p:cNvPr>
          <p:cNvSpPr>
            <a:spLocks xmlns:a="http://schemas.openxmlformats.org/drawingml/2006/main" noGrp="1"/>
          </p:cNvSpPr>
          <p:nvPr/>
        </p:nvSpPr>
        <p:spPr>
          <a:xfrm xmlns:a="http://schemas.openxmlformats.org/drawingml/2006/main">
            <a:off x="685800" y="885825"/>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71914"/>
                </a:solidFill>
                <a:latin typeface="Arial"/>
                <a:ea typeface="Arial"/>
                <a:cs typeface="Arial"/>
              </a:defRPr>
            </a:pPr>
            <a:r>
              <a:rPr sz="3600" b="1">
                <a:solidFill>
                  <a:srgbClr val="171914"/>
                </a:solidFill>
                <a:latin typeface="Arial"/>
                <a:ea typeface="Arial"/>
                <a:cs typeface="Arial"/>
              </a:rPr>
              <a:t>The payment boundary</a:t>
            </a:r>
          </a:p>
        </p:txBody>
      </p:sp>
      <p:sp>
        <p:nvSpPr>
          <p:cNvPr id="3" name="">
            <a:extLst xmlns:a="http://schemas.openxmlformats.org/drawingml/2006/main">
              <a:ext uri="{FF2B5EF4-FFF2-40B4-BE49-F238E27FC236}">
                <a16:creationId xmlns:a16="http://schemas.microsoft.com/office/drawing/2014/main" id="{E158755A-FF0E-459D-9497-4C9536A19FA2}"/>
              </a:ext>
            </a:extLst>
          </p:cNvPr>
          <p:cNvSpPr>
            <a:spLocks xmlns:a="http://schemas.openxmlformats.org/drawingml/2006/main" noGrp="1"/>
          </p:cNvSpPr>
          <p:nvPr/>
        </p:nvSpPr>
        <p:spPr>
          <a:xfrm xmlns:a="http://schemas.openxmlformats.org/drawingml/2006/main">
            <a:off x="685800" y="641985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125" b="1">
                <a:solidFill>
                  <a:srgbClr val="171914"/>
                </a:solidFill>
                <a:latin typeface="Arial"/>
                <a:ea typeface="Arial"/>
                <a:cs typeface="Arial"/>
              </a:defRPr>
            </a:pPr>
            <a:r>
              <a:rPr sz="1125" b="1">
                <a:solidFill>
                  <a:srgbClr val="171914"/>
                </a:solidFill>
                <a:latin typeface="Arial"/>
                <a:ea typeface="Arial"/>
                <a:cs typeface="Arial"/>
              </a:rPr>
              <a:t>CrossCart</a:t>
            </a:r>
          </a:p>
        </p:txBody>
      </p:sp>
      <p:sp>
        <p:nvSpPr>
          <p:cNvPr id="4" name="">
            <a:extLst xmlns:a="http://schemas.openxmlformats.org/drawingml/2006/main">
              <a:ext uri="{FF2B5EF4-FFF2-40B4-BE49-F238E27FC236}">
                <a16:creationId xmlns:a16="http://schemas.microsoft.com/office/drawing/2014/main" id="{44768057-DED5-4BA2-AA2F-44BE1EDF21BF}"/>
              </a:ext>
            </a:extLst>
          </p:cNvPr>
          <p:cNvSpPr>
            <a:spLocks xmlns:a="http://schemas.openxmlformats.org/drawingml/2006/main" noGrp="1"/>
          </p:cNvSpPr>
          <p:nvPr/>
        </p:nvSpPr>
        <p:spPr>
          <a:xfrm xmlns:a="http://schemas.openxmlformats.org/drawingml/2006/main">
            <a:off x="6667500" y="6419850"/>
            <a:ext cx="43243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050">
                <a:solidFill>
                  <a:srgbClr val="696C65"/>
                </a:solidFill>
                <a:latin typeface="Arial"/>
                <a:ea typeface="Arial"/>
                <a:cs typeface="Arial"/>
              </a:defRPr>
            </a:pPr>
            <a:r>
              <a:rPr sz="1050">
                <a:solidFill>
                  <a:srgbClr val="696C65"/>
                </a:solidFill>
                <a:latin typeface="Arial"/>
                <a:ea typeface="Arial"/>
                <a:cs typeface="Arial"/>
              </a:rPr>
              <a:t>Stripe test mode · Synthetic merchants</a:t>
            </a:r>
          </a:p>
        </p:txBody>
      </p:sp>
      <p:sp>
        <p:nvSpPr>
          <p:cNvPr id="5" name="">
            <a:extLst xmlns:a="http://schemas.openxmlformats.org/drawingml/2006/main">
              <a:ext uri="{FF2B5EF4-FFF2-40B4-BE49-F238E27FC236}">
                <a16:creationId xmlns:a16="http://schemas.microsoft.com/office/drawing/2014/main" id="{A08D8857-B0CB-40B2-88A8-167E195BBD68}"/>
              </a:ext>
            </a:extLst>
          </p:cNvPr>
          <p:cNvSpPr>
            <a:spLocks xmlns:a="http://schemas.openxmlformats.org/drawingml/2006/main" noGrp="1"/>
          </p:cNvSpPr>
          <p:nvPr/>
        </p:nvSpPr>
        <p:spPr>
          <a:xfrm xmlns:a="http://schemas.openxmlformats.org/drawingml/2006/main">
            <a:off x="11172825" y="640080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200">
                <a:solidFill>
                  <a:srgbClr val="696C65"/>
                </a:solidFill>
                <a:latin typeface="Arial"/>
                <a:ea typeface="Arial"/>
                <a:cs typeface="Arial"/>
              </a:defRPr>
            </a:pPr>
            <a:r>
              <a:rPr sz="1200">
                <a:solidFill>
                  <a:srgbClr val="696C65"/>
                </a:solidFill>
                <a:latin typeface="Arial"/>
                <a:ea typeface="Arial"/>
                <a:cs typeface="Arial"/>
              </a:rPr>
              <a:t>4</a:t>
            </a:r>
          </a:p>
        </p:txBody>
      </p:sp>
      <p:sp>
        <p:nvSpPr>
          <p:cNvPr id="6" name="">
            <a:extLst xmlns:a="http://schemas.openxmlformats.org/drawingml/2006/main">
              <a:ext uri="{FF2B5EF4-FFF2-40B4-BE49-F238E27FC236}">
                <a16:creationId xmlns:a16="http://schemas.microsoft.com/office/drawing/2014/main" id="{FD68C43D-99AB-493C-899D-F318C7E294DF}"/>
              </a:ext>
            </a:extLst>
          </p:cNvPr>
          <p:cNvSpPr>
            <a:spLocks xmlns:a="http://schemas.openxmlformats.org/drawingml/2006/main" noGrp="1"/>
          </p:cNvSpPr>
          <p:nvPr/>
        </p:nvSpPr>
        <p:spPr>
          <a:xfrm xmlns:a="http://schemas.openxmlformats.org/drawingml/2006/main">
            <a:off x="685800" y="2057400"/>
            <a:ext cx="666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i="1">
                <a:solidFill>
                  <a:srgbClr val="702321"/>
                </a:solidFill>
                <a:latin typeface="Georgia"/>
                <a:ea typeface="Georgia"/>
                <a:cs typeface="Georgia"/>
              </a:defRPr>
            </a:pPr>
            <a:r>
              <a:rPr sz="2700" i="1">
                <a:solidFill>
                  <a:srgbClr val="702321"/>
                </a:solidFill>
                <a:latin typeface="Georgia"/>
                <a:ea typeface="Georgia"/>
                <a:cs typeface="Georgia"/>
              </a:rPr>
              <a:t>01</a:t>
            </a:r>
          </a:p>
        </p:txBody>
      </p:sp>
      <p:sp>
        <p:nvSpPr>
          <p:cNvPr id="7" name="">
            <a:extLst xmlns:a="http://schemas.openxmlformats.org/drawingml/2006/main">
              <a:ext uri="{FF2B5EF4-FFF2-40B4-BE49-F238E27FC236}">
                <a16:creationId xmlns:a16="http://schemas.microsoft.com/office/drawing/2014/main" id="{DBF374E8-1ED6-479C-9878-EE8D49A6EA42}"/>
              </a:ext>
            </a:extLst>
          </p:cNvPr>
          <p:cNvSpPr>
            <a:spLocks xmlns:a="http://schemas.openxmlformats.org/drawingml/2006/main" noGrp="1"/>
          </p:cNvSpPr>
          <p:nvPr/>
        </p:nvSpPr>
        <p:spPr>
          <a:xfrm xmlns:a="http://schemas.openxmlformats.org/drawingml/2006/main">
            <a:off x="1600200" y="2057400"/>
            <a:ext cx="3105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171914"/>
                </a:solidFill>
                <a:latin typeface="Arial"/>
                <a:ea typeface="Arial"/>
                <a:cs typeface="Arial"/>
              </a:defRPr>
            </a:pPr>
            <a:r>
              <a:rPr sz="2250" b="1">
                <a:solidFill>
                  <a:srgbClr val="171914"/>
                </a:solidFill>
                <a:latin typeface="Arial"/>
                <a:ea typeface="Arial"/>
                <a:cs typeface="Arial"/>
              </a:rPr>
              <a:t>Buyer approval</a:t>
            </a:r>
          </a:p>
        </p:txBody>
      </p:sp>
      <p:sp>
        <p:nvSpPr>
          <p:cNvPr id="8" name="">
            <a:extLst xmlns:a="http://schemas.openxmlformats.org/drawingml/2006/main">
              <a:ext uri="{FF2B5EF4-FFF2-40B4-BE49-F238E27FC236}">
                <a16:creationId xmlns:a16="http://schemas.microsoft.com/office/drawing/2014/main" id="{8684656C-93A4-465F-B8E4-DFF4A727F660}"/>
              </a:ext>
            </a:extLst>
          </p:cNvPr>
          <p:cNvSpPr>
            <a:spLocks xmlns:a="http://schemas.openxmlformats.org/drawingml/2006/main" noGrp="1"/>
          </p:cNvSpPr>
          <p:nvPr/>
        </p:nvSpPr>
        <p:spPr>
          <a:xfrm xmlns:a="http://schemas.openxmlformats.org/drawingml/2006/main">
            <a:off x="5095875" y="2085975"/>
            <a:ext cx="64198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a:solidFill>
                  <a:srgbClr val="696C65"/>
                </a:solidFill>
                <a:latin typeface="Arial"/>
                <a:ea typeface="Arial"/>
                <a:cs typeface="Arial"/>
              </a:defRPr>
            </a:pPr>
            <a:r>
              <a:rPr sz="1875">
                <a:solidFill>
                  <a:srgbClr val="696C65"/>
                </a:solidFill>
                <a:latin typeface="Arial"/>
                <a:ea typeface="Arial"/>
                <a:cs typeface="Arial"/>
              </a:rPr>
              <a:t>Exact seller, payee, product, total, warranty, delivery and expiry</a:t>
            </a:r>
          </a:p>
        </p:txBody>
      </p:sp>
      <p:sp>
        <p:nvSpPr>
          <p:cNvPr id="9" name="">
            <a:extLst xmlns:a="http://schemas.openxmlformats.org/drawingml/2006/main">
              <a:ext uri="{FF2B5EF4-FFF2-40B4-BE49-F238E27FC236}">
                <a16:creationId xmlns:a16="http://schemas.microsoft.com/office/drawing/2014/main" id="{5C9249B1-6339-4C82-B60D-CEB95A828EFD}"/>
              </a:ext>
            </a:extLst>
          </p:cNvPr>
          <p:cNvSpPr>
            <a:spLocks xmlns:a="http://schemas.openxmlformats.org/drawingml/2006/main" noGrp="1"/>
          </p:cNvSpPr>
          <p:nvPr/>
        </p:nvSpPr>
        <p:spPr>
          <a:xfrm xmlns:a="http://schemas.openxmlformats.org/drawingml/2006/main">
            <a:off x="685800" y="3009900"/>
            <a:ext cx="666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i="1">
                <a:solidFill>
                  <a:srgbClr val="702321"/>
                </a:solidFill>
                <a:latin typeface="Georgia"/>
                <a:ea typeface="Georgia"/>
                <a:cs typeface="Georgia"/>
              </a:defRPr>
            </a:pPr>
            <a:r>
              <a:rPr sz="2700" i="1">
                <a:solidFill>
                  <a:srgbClr val="702321"/>
                </a:solidFill>
                <a:latin typeface="Georgia"/>
                <a:ea typeface="Georgia"/>
                <a:cs typeface="Georgia"/>
              </a:rPr>
              <a:t>02</a:t>
            </a:r>
          </a:p>
        </p:txBody>
      </p:sp>
      <p:sp>
        <p:nvSpPr>
          <p:cNvPr id="10" name="">
            <a:extLst xmlns:a="http://schemas.openxmlformats.org/drawingml/2006/main">
              <a:ext uri="{FF2B5EF4-FFF2-40B4-BE49-F238E27FC236}">
                <a16:creationId xmlns:a16="http://schemas.microsoft.com/office/drawing/2014/main" id="{34F3D16F-3F23-4E45-9318-7BADC807740D}"/>
              </a:ext>
            </a:extLst>
          </p:cNvPr>
          <p:cNvSpPr>
            <a:spLocks xmlns:a="http://schemas.openxmlformats.org/drawingml/2006/main" noGrp="1"/>
          </p:cNvSpPr>
          <p:nvPr/>
        </p:nvSpPr>
        <p:spPr>
          <a:xfrm xmlns:a="http://schemas.openxmlformats.org/drawingml/2006/main">
            <a:off x="1600200" y="3009900"/>
            <a:ext cx="3105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171914"/>
                </a:solidFill>
                <a:latin typeface="Arial"/>
                <a:ea typeface="Arial"/>
                <a:cs typeface="Arial"/>
              </a:defRPr>
            </a:pPr>
            <a:r>
              <a:rPr sz="2250" b="1">
                <a:solidFill>
                  <a:srgbClr val="171914"/>
                </a:solidFill>
                <a:latin typeface="Arial"/>
                <a:ea typeface="Arial"/>
                <a:cs typeface="Arial"/>
              </a:rPr>
              <a:t>Server validation</a:t>
            </a:r>
          </a:p>
        </p:txBody>
      </p:sp>
      <p:sp>
        <p:nvSpPr>
          <p:cNvPr id="11" name="">
            <a:extLst xmlns:a="http://schemas.openxmlformats.org/drawingml/2006/main">
              <a:ext uri="{FF2B5EF4-FFF2-40B4-BE49-F238E27FC236}">
                <a16:creationId xmlns:a16="http://schemas.microsoft.com/office/drawing/2014/main" id="{EE953A5C-15F8-46B3-8067-D9B818FA2C41}"/>
              </a:ext>
            </a:extLst>
          </p:cNvPr>
          <p:cNvSpPr>
            <a:spLocks xmlns:a="http://schemas.openxmlformats.org/drawingml/2006/main" noGrp="1"/>
          </p:cNvSpPr>
          <p:nvPr/>
        </p:nvSpPr>
        <p:spPr>
          <a:xfrm xmlns:a="http://schemas.openxmlformats.org/drawingml/2006/main">
            <a:off x="5095875" y="3038475"/>
            <a:ext cx="64198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a:solidFill>
                  <a:srgbClr val="696C65"/>
                </a:solidFill>
                <a:latin typeface="Arial"/>
                <a:ea typeface="Arial"/>
                <a:cs typeface="Arial"/>
              </a:defRPr>
            </a:pPr>
            <a:r>
              <a:rPr sz="1875">
                <a:solidFill>
                  <a:srgbClr val="696C65"/>
                </a:solidFill>
                <a:latin typeface="Arial"/>
                <a:ea typeface="Arial"/>
                <a:cs typeface="Arial"/>
              </a:rPr>
              <a:t>Recheck the mandate and the accepted quote before payment</a:t>
            </a:r>
          </a:p>
        </p:txBody>
      </p:sp>
      <p:sp>
        <p:nvSpPr>
          <p:cNvPr id="12" name="">
            <a:extLst xmlns:a="http://schemas.openxmlformats.org/drawingml/2006/main">
              <a:ext uri="{FF2B5EF4-FFF2-40B4-BE49-F238E27FC236}">
                <a16:creationId xmlns:a16="http://schemas.microsoft.com/office/drawing/2014/main" id="{D728C4C5-0DED-4196-BE51-38159242DC42}"/>
              </a:ext>
            </a:extLst>
          </p:cNvPr>
          <p:cNvSpPr>
            <a:spLocks xmlns:a="http://schemas.openxmlformats.org/drawingml/2006/main" noGrp="1"/>
          </p:cNvSpPr>
          <p:nvPr/>
        </p:nvSpPr>
        <p:spPr>
          <a:xfrm xmlns:a="http://schemas.openxmlformats.org/drawingml/2006/main">
            <a:off x="685800" y="3962400"/>
            <a:ext cx="666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i="1">
                <a:solidFill>
                  <a:srgbClr val="702321"/>
                </a:solidFill>
                <a:latin typeface="Georgia"/>
                <a:ea typeface="Georgia"/>
                <a:cs typeface="Georgia"/>
              </a:defRPr>
            </a:pPr>
            <a:r>
              <a:rPr sz="2700" i="1">
                <a:solidFill>
                  <a:srgbClr val="702321"/>
                </a:solidFill>
                <a:latin typeface="Georgia"/>
                <a:ea typeface="Georgia"/>
                <a:cs typeface="Georgia"/>
              </a:rPr>
              <a:t>03</a:t>
            </a:r>
          </a:p>
        </p:txBody>
      </p:sp>
      <p:sp>
        <p:nvSpPr>
          <p:cNvPr id="13" name="">
            <a:extLst xmlns:a="http://schemas.openxmlformats.org/drawingml/2006/main">
              <a:ext uri="{FF2B5EF4-FFF2-40B4-BE49-F238E27FC236}">
                <a16:creationId xmlns:a16="http://schemas.microsoft.com/office/drawing/2014/main" id="{407402E6-AAD0-4D14-AC67-BEA698DD6C1D}"/>
              </a:ext>
            </a:extLst>
          </p:cNvPr>
          <p:cNvSpPr>
            <a:spLocks xmlns:a="http://schemas.openxmlformats.org/drawingml/2006/main" noGrp="1"/>
          </p:cNvSpPr>
          <p:nvPr/>
        </p:nvSpPr>
        <p:spPr>
          <a:xfrm xmlns:a="http://schemas.openxmlformats.org/drawingml/2006/main">
            <a:off x="1600200" y="3962400"/>
            <a:ext cx="3105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171914"/>
                </a:solidFill>
                <a:latin typeface="Arial"/>
                <a:ea typeface="Arial"/>
                <a:cs typeface="Arial"/>
              </a:defRPr>
            </a:pPr>
            <a:r>
              <a:rPr sz="2250" b="1">
                <a:solidFill>
                  <a:srgbClr val="171914"/>
                </a:solidFill>
                <a:latin typeface="Arial"/>
                <a:ea typeface="Arial"/>
                <a:cs typeface="Arial"/>
              </a:rPr>
              <a:t>Stripe authorization</a:t>
            </a:r>
          </a:p>
        </p:txBody>
      </p:sp>
      <p:sp>
        <p:nvSpPr>
          <p:cNvPr id="14" name="">
            <a:extLst xmlns:a="http://schemas.openxmlformats.org/drawingml/2006/main">
              <a:ext uri="{FF2B5EF4-FFF2-40B4-BE49-F238E27FC236}">
                <a16:creationId xmlns:a16="http://schemas.microsoft.com/office/drawing/2014/main" id="{143A899E-243D-4E79-B448-1FB6074DE1B4}"/>
              </a:ext>
            </a:extLst>
          </p:cNvPr>
          <p:cNvSpPr>
            <a:spLocks xmlns:a="http://schemas.openxmlformats.org/drawingml/2006/main" noGrp="1"/>
          </p:cNvSpPr>
          <p:nvPr/>
        </p:nvSpPr>
        <p:spPr>
          <a:xfrm xmlns:a="http://schemas.openxmlformats.org/drawingml/2006/main">
            <a:off x="5095875" y="3990975"/>
            <a:ext cx="64198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a:solidFill>
                  <a:srgbClr val="696C65"/>
                </a:solidFill>
                <a:latin typeface="Arial"/>
                <a:ea typeface="Arial"/>
                <a:cs typeface="Arial"/>
              </a:defRPr>
            </a:pPr>
            <a:r>
              <a:rPr sz="1875">
                <a:solidFill>
                  <a:srgbClr val="696C65"/>
                </a:solidFill>
                <a:latin typeface="Arial"/>
                <a:ea typeface="Arial"/>
                <a:cs typeface="Arial"/>
              </a:rPr>
              <a:t>Official test Checkout holds the approved amount</a:t>
            </a:r>
          </a:p>
        </p:txBody>
      </p:sp>
      <p:sp>
        <p:nvSpPr>
          <p:cNvPr id="15" name="">
            <a:extLst xmlns:a="http://schemas.openxmlformats.org/drawingml/2006/main">
              <a:ext uri="{FF2B5EF4-FFF2-40B4-BE49-F238E27FC236}">
                <a16:creationId xmlns:a16="http://schemas.microsoft.com/office/drawing/2014/main" id="{1E891D16-9950-4BCE-8B5C-3D7D26E8FE00}"/>
              </a:ext>
            </a:extLst>
          </p:cNvPr>
          <p:cNvSpPr>
            <a:spLocks xmlns:a="http://schemas.openxmlformats.org/drawingml/2006/main" noGrp="1"/>
          </p:cNvSpPr>
          <p:nvPr/>
        </p:nvSpPr>
        <p:spPr>
          <a:xfrm xmlns:a="http://schemas.openxmlformats.org/drawingml/2006/main">
            <a:off x="685800" y="4914900"/>
            <a:ext cx="666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i="1">
                <a:solidFill>
                  <a:srgbClr val="702321"/>
                </a:solidFill>
                <a:latin typeface="Georgia"/>
                <a:ea typeface="Georgia"/>
                <a:cs typeface="Georgia"/>
              </a:defRPr>
            </a:pPr>
            <a:r>
              <a:rPr sz="2700" i="1">
                <a:solidFill>
                  <a:srgbClr val="702321"/>
                </a:solidFill>
                <a:latin typeface="Georgia"/>
                <a:ea typeface="Georgia"/>
                <a:cs typeface="Georgia"/>
              </a:rPr>
              <a:t>04</a:t>
            </a:r>
          </a:p>
        </p:txBody>
      </p:sp>
      <p:sp>
        <p:nvSpPr>
          <p:cNvPr id="16" name="">
            <a:extLst xmlns:a="http://schemas.openxmlformats.org/drawingml/2006/main">
              <a:ext uri="{FF2B5EF4-FFF2-40B4-BE49-F238E27FC236}">
                <a16:creationId xmlns:a16="http://schemas.microsoft.com/office/drawing/2014/main" id="{96A43A81-473D-437D-A6CE-4E1FF30F49BD}"/>
              </a:ext>
            </a:extLst>
          </p:cNvPr>
          <p:cNvSpPr>
            <a:spLocks xmlns:a="http://schemas.openxmlformats.org/drawingml/2006/main" noGrp="1"/>
          </p:cNvSpPr>
          <p:nvPr/>
        </p:nvSpPr>
        <p:spPr>
          <a:xfrm xmlns:a="http://schemas.openxmlformats.org/drawingml/2006/main">
            <a:off x="1600200" y="4914900"/>
            <a:ext cx="3105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171914"/>
                </a:solidFill>
                <a:latin typeface="Arial"/>
                <a:ea typeface="Arial"/>
                <a:cs typeface="Arial"/>
              </a:defRPr>
            </a:pPr>
            <a:r>
              <a:rPr sz="2250" b="1">
                <a:solidFill>
                  <a:srgbClr val="171914"/>
                </a:solidFill>
                <a:latin typeface="Arial"/>
                <a:ea typeface="Arial"/>
                <a:cs typeface="Arial"/>
              </a:rPr>
              <a:t>Capture and order</a:t>
            </a:r>
          </a:p>
        </p:txBody>
      </p:sp>
      <p:sp>
        <p:nvSpPr>
          <p:cNvPr id="17" name="">
            <a:extLst xmlns:a="http://schemas.openxmlformats.org/drawingml/2006/main">
              <a:ext uri="{FF2B5EF4-FFF2-40B4-BE49-F238E27FC236}">
                <a16:creationId xmlns:a16="http://schemas.microsoft.com/office/drawing/2014/main" id="{F6655C8A-52E3-4E9D-BD12-56C946EFC401}"/>
              </a:ext>
            </a:extLst>
          </p:cNvPr>
          <p:cNvSpPr>
            <a:spLocks xmlns:a="http://schemas.openxmlformats.org/drawingml/2006/main" noGrp="1"/>
          </p:cNvSpPr>
          <p:nvPr/>
        </p:nvSpPr>
        <p:spPr>
          <a:xfrm xmlns:a="http://schemas.openxmlformats.org/drawingml/2006/main">
            <a:off x="5095875" y="4943475"/>
            <a:ext cx="64198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a:solidFill>
                  <a:srgbClr val="696C65"/>
                </a:solidFill>
                <a:latin typeface="Arial"/>
                <a:ea typeface="Arial"/>
                <a:cs typeface="Arial"/>
              </a:defRPr>
            </a:pPr>
            <a:r>
              <a:rPr sz="1875">
                <a:solidFill>
                  <a:srgbClr val="696C65"/>
                </a:solidFill>
                <a:latin typeface="Arial"/>
                <a:ea typeface="Arial"/>
                <a:cs typeface="Arial"/>
              </a:rPr>
              <a:t>Recheck terms, capture once and track the merchant order</a:t>
            </a:r>
          </a:p>
        </p:txBody>
      </p:sp>
    </p:spTree>
    <p:extLst>
      <p:ext uri="{BB962C8B-B14F-4D97-AF65-F5344CB8AC3E}">
        <p14:creationId xmlns:p14="http://schemas.microsoft.com/office/powerpoint/2010/main" val="2122465976"/>
      </p:ext>
    </p:extLst>
  </p:cSld>
</p:sld>
</file>

<file path=ppt/slides/slide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7121F38-B5D7-4813-B83D-07299A36F4D9}"/>
              </a:ext>
            </a:extLst>
          </p:cNvPr>
          <p:cNvSpPr>
            <a:spLocks xmlns:a="http://schemas.openxmlformats.org/drawingml/2006/main" noGrp="1"/>
          </p:cNvSpPr>
          <p:nvPr/>
        </p:nvSpPr>
        <p:spPr>
          <a:xfrm xmlns:a="http://schemas.openxmlformats.org/drawingml/2006/main">
            <a:off x="685800" y="361950"/>
            <a:ext cx="10820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125" b="1">
                <a:solidFill>
                  <a:srgbClr val="702321"/>
                </a:solidFill>
                <a:latin typeface="Arial"/>
                <a:ea typeface="Arial"/>
                <a:cs typeface="Arial"/>
              </a:defRPr>
            </a:pPr>
            <a:r>
              <a:rPr sz="1125" b="1">
                <a:solidFill>
                  <a:srgbClr val="702321"/>
                </a:solidFill>
                <a:latin typeface="Arial"/>
                <a:ea typeface="Arial"/>
                <a:cs typeface="Arial"/>
              </a:rPr>
              <a:t>04 / OFFICIAL STRIPE SANDBOX</a:t>
            </a:r>
          </a:p>
        </p:txBody>
      </p:sp>
      <p:sp>
        <p:nvSpPr>
          <p:cNvPr id="2" name="">
            <a:extLst xmlns:a="http://schemas.openxmlformats.org/drawingml/2006/main">
              <a:ext uri="{FF2B5EF4-FFF2-40B4-BE49-F238E27FC236}">
                <a16:creationId xmlns:a16="http://schemas.microsoft.com/office/drawing/2014/main" id="{969AD6FB-787C-4701-8AEB-2307848CBD1C}"/>
              </a:ext>
            </a:extLst>
          </p:cNvPr>
          <p:cNvSpPr>
            <a:spLocks xmlns:a="http://schemas.openxmlformats.org/drawingml/2006/main" noGrp="1"/>
          </p:cNvSpPr>
          <p:nvPr/>
        </p:nvSpPr>
        <p:spPr>
          <a:xfrm xmlns:a="http://schemas.openxmlformats.org/drawingml/2006/main">
            <a:off x="685800" y="885825"/>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71914"/>
                </a:solidFill>
                <a:latin typeface="Arial"/>
                <a:ea typeface="Arial"/>
                <a:cs typeface="Arial"/>
              </a:defRPr>
            </a:pPr>
            <a:r>
              <a:rPr sz="3600" b="1">
                <a:solidFill>
                  <a:srgbClr val="171914"/>
                </a:solidFill>
                <a:latin typeface="Arial"/>
                <a:ea typeface="Arial"/>
                <a:cs typeface="Arial"/>
              </a:rPr>
              <a:t>Three verified transaction outcomes</a:t>
            </a:r>
          </a:p>
        </p:txBody>
      </p:sp>
      <p:sp>
        <p:nvSpPr>
          <p:cNvPr id="3" name="">
            <a:extLst xmlns:a="http://schemas.openxmlformats.org/drawingml/2006/main">
              <a:ext uri="{FF2B5EF4-FFF2-40B4-BE49-F238E27FC236}">
                <a16:creationId xmlns:a16="http://schemas.microsoft.com/office/drawing/2014/main" id="{4864A547-D9AA-4ECB-BD60-EF326C3BCBEB}"/>
              </a:ext>
            </a:extLst>
          </p:cNvPr>
          <p:cNvSpPr>
            <a:spLocks xmlns:a="http://schemas.openxmlformats.org/drawingml/2006/main" noGrp="1"/>
          </p:cNvSpPr>
          <p:nvPr/>
        </p:nvSpPr>
        <p:spPr>
          <a:xfrm xmlns:a="http://schemas.openxmlformats.org/drawingml/2006/main">
            <a:off x="685800" y="641985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125" b="1">
                <a:solidFill>
                  <a:srgbClr val="171914"/>
                </a:solidFill>
                <a:latin typeface="Arial"/>
                <a:ea typeface="Arial"/>
                <a:cs typeface="Arial"/>
              </a:defRPr>
            </a:pPr>
            <a:r>
              <a:rPr sz="1125" b="1">
                <a:solidFill>
                  <a:srgbClr val="171914"/>
                </a:solidFill>
                <a:latin typeface="Arial"/>
                <a:ea typeface="Arial"/>
                <a:cs typeface="Arial"/>
              </a:rPr>
              <a:t>CrossCart</a:t>
            </a:r>
          </a:p>
        </p:txBody>
      </p:sp>
      <p:sp>
        <p:nvSpPr>
          <p:cNvPr id="4" name="">
            <a:extLst xmlns:a="http://schemas.openxmlformats.org/drawingml/2006/main">
              <a:ext uri="{FF2B5EF4-FFF2-40B4-BE49-F238E27FC236}">
                <a16:creationId xmlns:a16="http://schemas.microsoft.com/office/drawing/2014/main" id="{128A81D1-A4B5-4F0F-B4D8-6691050B6AFD}"/>
              </a:ext>
            </a:extLst>
          </p:cNvPr>
          <p:cNvSpPr>
            <a:spLocks xmlns:a="http://schemas.openxmlformats.org/drawingml/2006/main" noGrp="1"/>
          </p:cNvSpPr>
          <p:nvPr/>
        </p:nvSpPr>
        <p:spPr>
          <a:xfrm xmlns:a="http://schemas.openxmlformats.org/drawingml/2006/main">
            <a:off x="6667500" y="6419850"/>
            <a:ext cx="43243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050">
                <a:solidFill>
                  <a:srgbClr val="696C65"/>
                </a:solidFill>
                <a:latin typeface="Arial"/>
                <a:ea typeface="Arial"/>
                <a:cs typeface="Arial"/>
              </a:defRPr>
            </a:pPr>
            <a:r>
              <a:rPr sz="1050">
                <a:solidFill>
                  <a:srgbClr val="696C65"/>
                </a:solidFill>
                <a:latin typeface="Arial"/>
                <a:ea typeface="Arial"/>
                <a:cs typeface="Arial"/>
              </a:rPr>
              <a:t>Stripe test mode · Synthetic merchants</a:t>
            </a:r>
          </a:p>
        </p:txBody>
      </p:sp>
      <p:sp>
        <p:nvSpPr>
          <p:cNvPr id="5" name="">
            <a:extLst xmlns:a="http://schemas.openxmlformats.org/drawingml/2006/main">
              <a:ext uri="{FF2B5EF4-FFF2-40B4-BE49-F238E27FC236}">
                <a16:creationId xmlns:a16="http://schemas.microsoft.com/office/drawing/2014/main" id="{7E4524DA-8713-47DC-B830-BDFC3AD6F1EE}"/>
              </a:ext>
            </a:extLst>
          </p:cNvPr>
          <p:cNvSpPr>
            <a:spLocks xmlns:a="http://schemas.openxmlformats.org/drawingml/2006/main" noGrp="1"/>
          </p:cNvSpPr>
          <p:nvPr/>
        </p:nvSpPr>
        <p:spPr>
          <a:xfrm xmlns:a="http://schemas.openxmlformats.org/drawingml/2006/main">
            <a:off x="11172825" y="640080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200">
                <a:solidFill>
                  <a:srgbClr val="696C65"/>
                </a:solidFill>
                <a:latin typeface="Arial"/>
                <a:ea typeface="Arial"/>
                <a:cs typeface="Arial"/>
              </a:defRPr>
            </a:pPr>
            <a:r>
              <a:rPr sz="1200">
                <a:solidFill>
                  <a:srgbClr val="696C65"/>
                </a:solidFill>
                <a:latin typeface="Arial"/>
                <a:ea typeface="Arial"/>
                <a:cs typeface="Arial"/>
              </a:rPr>
              <a:t>5</a:t>
            </a:r>
          </a:p>
        </p:txBody>
      </p:sp>
      <p:graphicFrame>
        <p:nvGraphicFramePr>
          <p:cNvPr id="14" name=""/>
          <p:cNvGraphicFramePr/>
          <p:nvPr/>
        </p:nvGraphicFramePr>
        <p:xfrm>
          <a:off xmlns:a="http://schemas.openxmlformats.org/drawingml/2006/main" x="685800" y="2076450"/>
          <a:ext xmlns:a="http://schemas.openxmlformats.org/drawingml/2006/main" cx="10820400" cy="3009900"/>
        </p:xfrm>
        <a:graphic xmlns:a="http://schemas.openxmlformats.org/drawingml/2006/main">
          <a:graphicData uri="http://schemas.openxmlformats.org/drawingml/2006/table">
            <a:tbl>
              <a:tblPr/>
              <a:tblGrid>
                <a:gridCol w="3533775"/>
                <a:gridCol w="2305050"/>
                <a:gridCol w="2266950"/>
                <a:gridCol w="2714625"/>
              </a:tblGrid>
              <a:tr h="533400">
                <a:tc>
                  <a:txBody>
                    <a:bodyPr/>
                    <a:lstStyle/>
                    <a:p>
                      <a:r>
                        <a:rPr sz="1500" b="1">
                          <a:solidFill>
                            <a:srgbClr val="FFFFFF"/>
                          </a:solidFill>
                          <a:latin typeface="Arial"/>
                          <a:ea typeface="Arial"/>
                          <a:cs typeface="Arial"/>
                        </a:rPr>
                        <a:t>Scenario</a:t>
                      </a:r>
                    </a:p>
                  </a:txBody>
                  <a:tcPr marL="171450" marR="171450" marT="152400" marB="152400" anchor="ctr">
                    <a:solidFill>
                      <a:srgbClr val="702321"/>
                    </a:solidFill>
                  </a:tcPr>
                </a:tc>
                <a:tc>
                  <a:txBody>
                    <a:bodyPr/>
                    <a:lstStyle/>
                    <a:p>
                      <a:r>
                        <a:rPr sz="1500" b="1">
                          <a:solidFill>
                            <a:srgbClr val="FFFFFF"/>
                          </a:solidFill>
                          <a:latin typeface="Arial"/>
                          <a:ea typeface="Arial"/>
                          <a:cs typeface="Arial"/>
                        </a:rPr>
                        <a:t>Payment</a:t>
                      </a:r>
                    </a:p>
                  </a:txBody>
                  <a:tcPr marL="171450" marR="171450" marT="152400" marB="152400" anchor="ctr">
                    <a:solidFill>
                      <a:srgbClr val="702321"/>
                    </a:solidFill>
                  </a:tcPr>
                </a:tc>
                <a:tc>
                  <a:txBody>
                    <a:bodyPr/>
                    <a:lstStyle/>
                    <a:p>
                      <a:r>
                        <a:rPr sz="1500" b="1">
                          <a:solidFill>
                            <a:srgbClr val="FFFFFF"/>
                          </a:solidFill>
                          <a:latin typeface="Arial"/>
                          <a:ea typeface="Arial"/>
                          <a:cs typeface="Arial"/>
                        </a:rPr>
                        <a:t>Merchant order</a:t>
                      </a:r>
                    </a:p>
                  </a:txBody>
                  <a:tcPr marL="171450" marR="171450" marT="152400" marB="152400" anchor="ctr">
                    <a:solidFill>
                      <a:srgbClr val="702321"/>
                    </a:solidFill>
                  </a:tcPr>
                </a:tc>
                <a:tc>
                  <a:txBody>
                    <a:bodyPr/>
                    <a:lstStyle/>
                    <a:p>
                      <a:r>
                        <a:rPr sz="1500" b="1">
                          <a:solidFill>
                            <a:srgbClr val="FFFFFF"/>
                          </a:solidFill>
                          <a:latin typeface="Arial"/>
                          <a:ea typeface="Arial"/>
                          <a:cs typeface="Arial"/>
                        </a:rPr>
                        <a:t>Result</a:t>
                      </a:r>
                    </a:p>
                  </a:txBody>
                  <a:tcPr marL="171450" marR="171450" marT="152400" marB="152400" anchor="ctr">
                    <a:solidFill>
                      <a:srgbClr val="702321"/>
                    </a:solidFill>
                  </a:tcPr>
                </a:tc>
              </a:tr>
              <a:tr h="825500">
                <a:tc>
                  <a:txBody>
                    <a:bodyPr/>
                    <a:lstStyle/>
                    <a:p>
                      <a:r>
                        <a:rPr sz="1650">
                          <a:solidFill>
                            <a:srgbClr val="171914"/>
                          </a:solidFill>
                          <a:latin typeface="Arial"/>
                          <a:ea typeface="Arial"/>
                          <a:cs typeface="Arial"/>
                        </a:rPr>
                        <a:t>Complete HK$1,749</a:t>
                      </a:r>
                    </a:p>
                  </a:txBody>
                  <a:tcPr marL="171450" marR="171450" marT="152400" marB="152400" anchor="ctr">
                    <a:solidFill>
                      <a:srgbClr val="F8F7F2"/>
                    </a:solidFill>
                  </a:tcPr>
                </a:tc>
                <a:tc>
                  <a:txBody>
                    <a:bodyPr/>
                    <a:lstStyle/>
                    <a:p>
                      <a:r>
                        <a:rPr sz="1650">
                          <a:solidFill>
                            <a:srgbClr val="171914"/>
                          </a:solidFill>
                          <a:latin typeface="Arial"/>
                          <a:ea typeface="Arial"/>
                          <a:cs typeface="Arial"/>
                        </a:rPr>
                        <a:t>CAPTURED</a:t>
                      </a:r>
                    </a:p>
                  </a:txBody>
                  <a:tcPr marL="171450" marR="171450" marT="152400" marB="152400" anchor="ctr">
                    <a:solidFill>
                      <a:srgbClr val="F8F7F2"/>
                    </a:solidFill>
                  </a:tcPr>
                </a:tc>
                <a:tc>
                  <a:txBody>
                    <a:bodyPr/>
                    <a:lstStyle/>
                    <a:p>
                      <a:r>
                        <a:rPr sz="1650">
                          <a:solidFill>
                            <a:srgbClr val="171914"/>
                          </a:solidFill>
                          <a:latin typeface="Arial"/>
                          <a:ea typeface="Arial"/>
                          <a:cs typeface="Arial"/>
                        </a:rPr>
                        <a:t>CONFIRMED</a:t>
                      </a:r>
                    </a:p>
                  </a:txBody>
                  <a:tcPr marL="171450" marR="171450" marT="152400" marB="152400" anchor="ctr">
                    <a:solidFill>
                      <a:srgbClr val="F8F7F2"/>
                    </a:solidFill>
                  </a:tcPr>
                </a:tc>
                <a:tc>
                  <a:txBody>
                    <a:bodyPr/>
                    <a:lstStyle/>
                    <a:p>
                      <a:r>
                        <a:rPr sz="1650">
                          <a:solidFill>
                            <a:srgbClr val="171914"/>
                          </a:solidFill>
                          <a:latin typeface="Arial"/>
                          <a:ea typeface="Arial"/>
                          <a:cs typeface="Arial"/>
                        </a:rPr>
                        <a:t>Purchase confirmed</a:t>
                      </a:r>
                    </a:p>
                  </a:txBody>
                  <a:tcPr marL="171450" marR="171450" marT="152400" marB="152400" anchor="ctr">
                    <a:solidFill>
                      <a:srgbClr val="F8F7F2"/>
                    </a:solidFill>
                  </a:tcPr>
                </a:tc>
              </a:tr>
              <a:tr h="825500">
                <a:tc>
                  <a:txBody>
                    <a:bodyPr/>
                    <a:lstStyle/>
                    <a:p>
                      <a:r>
                        <a:rPr sz="1650">
                          <a:solidFill>
                            <a:srgbClr val="171914"/>
                          </a:solidFill>
                          <a:latin typeface="Arial"/>
                          <a:ea typeface="Arial"/>
                          <a:cs typeface="Arial"/>
                        </a:rPr>
                        <a:t>Change to HK$1,849</a:t>
                      </a:r>
                    </a:p>
                  </a:txBody>
                  <a:tcPr marL="171450" marR="171450" marT="152400" marB="152400" anchor="ctr">
                    <a:solidFill>
                      <a:srgbClr val="F8F7F2"/>
                    </a:solidFill>
                  </a:tcPr>
                </a:tc>
                <a:tc>
                  <a:txBody>
                    <a:bodyPr/>
                    <a:lstStyle/>
                    <a:p>
                      <a:r>
                        <a:rPr sz="1650">
                          <a:solidFill>
                            <a:srgbClr val="171914"/>
                          </a:solidFill>
                          <a:latin typeface="Arial"/>
                          <a:ea typeface="Arial"/>
                          <a:cs typeface="Arial"/>
                        </a:rPr>
                        <a:t>NOT EXECUTED</a:t>
                      </a:r>
                    </a:p>
                  </a:txBody>
                  <a:tcPr marL="171450" marR="171450" marT="152400" marB="152400" anchor="ctr">
                    <a:solidFill>
                      <a:srgbClr val="F8F7F2"/>
                    </a:solidFill>
                  </a:tcPr>
                </a:tc>
                <a:tc>
                  <a:txBody>
                    <a:bodyPr/>
                    <a:lstStyle/>
                    <a:p>
                      <a:r>
                        <a:rPr sz="1650">
                          <a:solidFill>
                            <a:srgbClr val="171914"/>
                          </a:solidFill>
                          <a:latin typeface="Arial"/>
                          <a:ea typeface="Arial"/>
                          <a:cs typeface="Arial"/>
                        </a:rPr>
                        <a:t>NOT CREATED</a:t>
                      </a:r>
                    </a:p>
                  </a:txBody>
                  <a:tcPr marL="171450" marR="171450" marT="152400" marB="152400" anchor="ctr">
                    <a:solidFill>
                      <a:srgbClr val="F8F7F2"/>
                    </a:solidFill>
                  </a:tcPr>
                </a:tc>
                <a:tc>
                  <a:txBody>
                    <a:bodyPr/>
                    <a:lstStyle/>
                    <a:p>
                      <a:r>
                        <a:rPr sz="1650">
                          <a:solidFill>
                            <a:srgbClr val="171914"/>
                          </a:solidFill>
                          <a:latin typeface="Arial"/>
                          <a:ea typeface="Arial"/>
                          <a:cs typeface="Arial"/>
                        </a:rPr>
                        <a:t>BLOCKED</a:t>
                      </a:r>
                    </a:p>
                  </a:txBody>
                  <a:tcPr marL="171450" marR="171450" marT="152400" marB="152400" anchor="ctr">
                    <a:solidFill>
                      <a:srgbClr val="F8F7F2"/>
                    </a:solidFill>
                  </a:tcPr>
                </a:tc>
              </a:tr>
              <a:tr h="825500">
                <a:tc>
                  <a:txBody>
                    <a:bodyPr/>
                    <a:lstStyle/>
                    <a:p>
                      <a:r>
                        <a:rPr sz="1650">
                          <a:solidFill>
                            <a:srgbClr val="171914"/>
                          </a:solidFill>
                          <a:latin typeface="Arial"/>
                          <a:ea typeface="Arial"/>
                          <a:cs typeface="Arial"/>
                        </a:rPr>
                        <a:t>Order fails after capture</a:t>
                      </a:r>
                    </a:p>
                  </a:txBody>
                  <a:tcPr marL="171450" marR="171450" marT="152400" marB="152400" anchor="ctr">
                    <a:solidFill>
                      <a:srgbClr val="F8F7F2"/>
                    </a:solidFill>
                  </a:tcPr>
                </a:tc>
                <a:tc>
                  <a:txBody>
                    <a:bodyPr/>
                    <a:lstStyle/>
                    <a:p>
                      <a:r>
                        <a:rPr sz="1650">
                          <a:solidFill>
                            <a:srgbClr val="171914"/>
                          </a:solidFill>
                          <a:latin typeface="Arial"/>
                          <a:ea typeface="Arial"/>
                          <a:cs typeface="Arial"/>
                        </a:rPr>
                        <a:t>CAPTURED</a:t>
                      </a:r>
                    </a:p>
                  </a:txBody>
                  <a:tcPr marL="171450" marR="171450" marT="152400" marB="152400" anchor="ctr">
                    <a:solidFill>
                      <a:srgbClr val="F8F7F2"/>
                    </a:solidFill>
                  </a:tcPr>
                </a:tc>
                <a:tc>
                  <a:txBody>
                    <a:bodyPr/>
                    <a:lstStyle/>
                    <a:p>
                      <a:r>
                        <a:rPr sz="1650">
                          <a:solidFill>
                            <a:srgbClr val="171914"/>
                          </a:solidFill>
                          <a:latin typeface="Arial"/>
                          <a:ea typeface="Arial"/>
                          <a:cs typeface="Arial"/>
                        </a:rPr>
                        <a:t>FAILED</a:t>
                      </a:r>
                    </a:p>
                  </a:txBody>
                  <a:tcPr marL="171450" marR="171450" marT="152400" marB="152400" anchor="ctr">
                    <a:solidFill>
                      <a:srgbClr val="F8F7F2"/>
                    </a:solidFill>
                  </a:tcPr>
                </a:tc>
                <a:tc>
                  <a:txBody>
                    <a:bodyPr/>
                    <a:lstStyle/>
                    <a:p>
                      <a:r>
                        <a:rPr sz="1650">
                          <a:solidFill>
                            <a:srgbClr val="171914"/>
                          </a:solidFill>
                          <a:latin typeface="Arial"/>
                          <a:ea typeface="Arial"/>
                          <a:cs typeface="Arial"/>
                        </a:rPr>
                        <a:t>HK$1,749 REFUNDED</a:t>
                      </a:r>
                    </a:p>
                  </a:txBody>
                  <a:tcPr marL="171450" marR="171450" marT="152400" marB="152400" anchor="ctr">
                    <a:solidFill>
                      <a:srgbClr val="F8F7F2"/>
                    </a:solidFill>
                  </a:tcPr>
                </a:tc>
              </a:tr>
            </a:tbl>
          </a:graphicData>
        </a:graphic>
      </p:graphicFrame>
      <p:sp>
        <p:nvSpPr>
          <p:cNvPr id="7" name="">
            <a:extLst xmlns:a="http://schemas.openxmlformats.org/drawingml/2006/main">
              <a:ext uri="{FF2B5EF4-FFF2-40B4-BE49-F238E27FC236}">
                <a16:creationId xmlns:a16="http://schemas.microsoft.com/office/drawing/2014/main" id="{982C3F80-810F-44D2-8F10-314D126F454F}"/>
              </a:ext>
            </a:extLst>
          </p:cNvPr>
          <p:cNvSpPr>
            <a:spLocks xmlns:a="http://schemas.openxmlformats.org/drawingml/2006/main" noGrp="1"/>
          </p:cNvSpPr>
          <p:nvPr/>
        </p:nvSpPr>
        <p:spPr>
          <a:xfrm xmlns:a="http://schemas.openxmlformats.org/drawingml/2006/main">
            <a:off x="685800" y="5400675"/>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a:solidFill>
                  <a:srgbClr val="171914"/>
                </a:solidFill>
                <a:latin typeface="Arial"/>
                <a:ea typeface="Arial"/>
                <a:cs typeface="Arial"/>
              </a:defRPr>
            </a:pPr>
            <a:r>
              <a:rPr sz="1950">
                <a:solidFill>
                  <a:srgbClr val="171914"/>
                </a:solidFill>
                <a:latin typeface="Arial"/>
                <a:ea typeface="Arial"/>
                <a:cs typeface="Arial"/>
              </a:rPr>
              <a:t>Eight public HTTPS cases passed on 4 October 2026. Provider retrieval confirms payment and refund states.</a:t>
            </a:r>
          </a:p>
        </p:txBody>
      </p:sp>
      <p:sp>
        <p:nvSpPr>
          <p:cNvPr id="8" name="">
            <a:extLst xmlns:a="http://schemas.openxmlformats.org/drawingml/2006/main">
              <a:ext uri="{FF2B5EF4-FFF2-40B4-BE49-F238E27FC236}">
                <a16:creationId xmlns:a16="http://schemas.microsoft.com/office/drawing/2014/main" id="{384D4D27-8148-4BCE-AAB7-40157679F678}"/>
              </a:ext>
            </a:extLst>
          </p:cNvPr>
          <p:cNvSpPr>
            <a:spLocks xmlns:a="http://schemas.openxmlformats.org/drawingml/2006/main" noGrp="1"/>
          </p:cNvSpPr>
          <p:nvPr/>
        </p:nvSpPr>
        <p:spPr>
          <a:xfrm xmlns:a="http://schemas.openxmlformats.org/drawingml/2006/main">
            <a:off x="685800" y="6000750"/>
            <a:ext cx="10572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425">
                <a:solidFill>
                  <a:srgbClr val="696C65"/>
                </a:solidFill>
                <a:latin typeface="Arial"/>
                <a:ea typeface="Arial"/>
                <a:cs typeface="Arial"/>
              </a:defRPr>
            </a:pPr>
            <a:r>
              <a:rPr sz="1425">
                <a:solidFill>
                  <a:srgbClr val="696C65"/>
                </a:solidFill>
                <a:latin typeface="Arial"/>
                <a:ea typeface="Arial"/>
                <a:cs typeface="Arial"/>
              </a:rPr>
              <a:t>No real money or goods move. Orders are synthetic merchant adapters.</a:t>
            </a:r>
          </a:p>
        </p:txBody>
      </p:sp>
    </p:spTree>
    <p:extLst>
      <p:ext uri="{BB962C8B-B14F-4D97-AF65-F5344CB8AC3E}">
        <p14:creationId xmlns:p14="http://schemas.microsoft.com/office/powerpoint/2010/main" val="180746105"/>
      </p:ext>
    </p:extLst>
  </p:cSld>
</p:sld>
</file>

<file path=ppt/slides/slide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39B78A0-27EF-492E-8E4A-3291D8342AD9}"/>
              </a:ext>
            </a:extLst>
          </p:cNvPr>
          <p:cNvSpPr>
            <a:spLocks xmlns:a="http://schemas.openxmlformats.org/drawingml/2006/main" noGrp="1"/>
          </p:cNvSpPr>
          <p:nvPr/>
        </p:nvSpPr>
        <p:spPr>
          <a:xfrm xmlns:a="http://schemas.openxmlformats.org/drawingml/2006/main">
            <a:off x="685800" y="361950"/>
            <a:ext cx="10820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125" b="1">
                <a:solidFill>
                  <a:srgbClr val="702321"/>
                </a:solidFill>
                <a:latin typeface="Arial"/>
                <a:ea typeface="Arial"/>
                <a:cs typeface="Arial"/>
              </a:defRPr>
            </a:pPr>
            <a:r>
              <a:rPr sz="1125" b="1">
                <a:solidFill>
                  <a:srgbClr val="702321"/>
                </a:solidFill>
                <a:latin typeface="Arial"/>
                <a:ea typeface="Arial"/>
                <a:cs typeface="Arial"/>
              </a:rPr>
              <a:t>05 / TRACEABLE RESULT</a:t>
            </a:r>
          </a:p>
        </p:txBody>
      </p:sp>
      <p:sp>
        <p:nvSpPr>
          <p:cNvPr id="2" name="">
            <a:extLst xmlns:a="http://schemas.openxmlformats.org/drawingml/2006/main">
              <a:ext uri="{FF2B5EF4-FFF2-40B4-BE49-F238E27FC236}">
                <a16:creationId xmlns:a16="http://schemas.microsoft.com/office/drawing/2014/main" id="{8C1ECDB5-852D-40FC-A938-AEF3BDA0D452}"/>
              </a:ext>
            </a:extLst>
          </p:cNvPr>
          <p:cNvSpPr>
            <a:spLocks xmlns:a="http://schemas.openxmlformats.org/drawingml/2006/main" noGrp="1"/>
          </p:cNvSpPr>
          <p:nvPr/>
        </p:nvSpPr>
        <p:spPr>
          <a:xfrm xmlns:a="http://schemas.openxmlformats.org/drawingml/2006/main">
            <a:off x="685800" y="885825"/>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71914"/>
                </a:solidFill>
                <a:latin typeface="Arial"/>
                <a:ea typeface="Arial"/>
                <a:cs typeface="Arial"/>
              </a:defRPr>
            </a:pPr>
            <a:r>
              <a:rPr sz="3600" b="1">
                <a:solidFill>
                  <a:srgbClr val="171914"/>
                </a:solidFill>
                <a:latin typeface="Arial"/>
                <a:ea typeface="Arial"/>
                <a:cs typeface="Arial"/>
              </a:rPr>
              <a:t>A completed purchase has separate states</a:t>
            </a:r>
          </a:p>
        </p:txBody>
      </p:sp>
      <p:sp>
        <p:nvSpPr>
          <p:cNvPr id="3" name="">
            <a:extLst xmlns:a="http://schemas.openxmlformats.org/drawingml/2006/main">
              <a:ext uri="{FF2B5EF4-FFF2-40B4-BE49-F238E27FC236}">
                <a16:creationId xmlns:a16="http://schemas.microsoft.com/office/drawing/2014/main" id="{59321631-BC57-4891-BD49-41439C493621}"/>
              </a:ext>
            </a:extLst>
          </p:cNvPr>
          <p:cNvSpPr>
            <a:spLocks xmlns:a="http://schemas.openxmlformats.org/drawingml/2006/main" noGrp="1"/>
          </p:cNvSpPr>
          <p:nvPr/>
        </p:nvSpPr>
        <p:spPr>
          <a:xfrm xmlns:a="http://schemas.openxmlformats.org/drawingml/2006/main">
            <a:off x="685800" y="641985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125" b="1">
                <a:solidFill>
                  <a:srgbClr val="171914"/>
                </a:solidFill>
                <a:latin typeface="Arial"/>
                <a:ea typeface="Arial"/>
                <a:cs typeface="Arial"/>
              </a:defRPr>
            </a:pPr>
            <a:r>
              <a:rPr sz="1125" b="1">
                <a:solidFill>
                  <a:srgbClr val="171914"/>
                </a:solidFill>
                <a:latin typeface="Arial"/>
                <a:ea typeface="Arial"/>
                <a:cs typeface="Arial"/>
              </a:rPr>
              <a:t>CrossCart</a:t>
            </a:r>
          </a:p>
        </p:txBody>
      </p:sp>
      <p:sp>
        <p:nvSpPr>
          <p:cNvPr id="4" name="">
            <a:extLst xmlns:a="http://schemas.openxmlformats.org/drawingml/2006/main">
              <a:ext uri="{FF2B5EF4-FFF2-40B4-BE49-F238E27FC236}">
                <a16:creationId xmlns:a16="http://schemas.microsoft.com/office/drawing/2014/main" id="{6A9547DB-E4D4-44B6-A06E-6C5BD69D537A}"/>
              </a:ext>
            </a:extLst>
          </p:cNvPr>
          <p:cNvSpPr>
            <a:spLocks xmlns:a="http://schemas.openxmlformats.org/drawingml/2006/main" noGrp="1"/>
          </p:cNvSpPr>
          <p:nvPr/>
        </p:nvSpPr>
        <p:spPr>
          <a:xfrm xmlns:a="http://schemas.openxmlformats.org/drawingml/2006/main">
            <a:off x="6667500" y="6419850"/>
            <a:ext cx="43243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050">
                <a:solidFill>
                  <a:srgbClr val="696C65"/>
                </a:solidFill>
                <a:latin typeface="Arial"/>
                <a:ea typeface="Arial"/>
                <a:cs typeface="Arial"/>
              </a:defRPr>
            </a:pPr>
            <a:r>
              <a:rPr sz="1050">
                <a:solidFill>
                  <a:srgbClr val="696C65"/>
                </a:solidFill>
                <a:latin typeface="Arial"/>
                <a:ea typeface="Arial"/>
                <a:cs typeface="Arial"/>
              </a:rPr>
              <a:t>Stripe test mode · Synthetic merchants</a:t>
            </a:r>
          </a:p>
        </p:txBody>
      </p:sp>
      <p:sp>
        <p:nvSpPr>
          <p:cNvPr id="5" name="">
            <a:extLst xmlns:a="http://schemas.openxmlformats.org/drawingml/2006/main">
              <a:ext uri="{FF2B5EF4-FFF2-40B4-BE49-F238E27FC236}">
                <a16:creationId xmlns:a16="http://schemas.microsoft.com/office/drawing/2014/main" id="{89DEFE83-CA10-45D7-95A9-BA91875FCE63}"/>
              </a:ext>
            </a:extLst>
          </p:cNvPr>
          <p:cNvSpPr>
            <a:spLocks xmlns:a="http://schemas.openxmlformats.org/drawingml/2006/main" noGrp="1"/>
          </p:cNvSpPr>
          <p:nvPr/>
        </p:nvSpPr>
        <p:spPr>
          <a:xfrm xmlns:a="http://schemas.openxmlformats.org/drawingml/2006/main">
            <a:off x="11172825" y="640080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200">
                <a:solidFill>
                  <a:srgbClr val="696C65"/>
                </a:solidFill>
                <a:latin typeface="Arial"/>
                <a:ea typeface="Arial"/>
                <a:cs typeface="Arial"/>
              </a:defRPr>
            </a:pPr>
            <a:r>
              <a:rPr sz="1200">
                <a:solidFill>
                  <a:srgbClr val="696C65"/>
                </a:solidFill>
                <a:latin typeface="Arial"/>
                <a:ea typeface="Arial"/>
                <a:cs typeface="Arial"/>
              </a:rPr>
              <a:t>6</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bc08d1acc2a14ebd"/>
          <a:stretch xmlns:a="http://schemas.openxmlformats.org/drawingml/2006/main"/>
        </p:blipFill>
        <p:spPr>
          <a:xfrm xmlns:a="http://schemas.openxmlformats.org/drawingml/2006/main">
            <a:off x="1422233" y="1962150"/>
            <a:ext cx="5518484" cy="40957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F024CF6F-F3F6-4462-9603-10A30A58700D}"/>
              </a:ext>
            </a:extLst>
          </p:cNvPr>
          <p:cNvSpPr>
            <a:spLocks xmlns:a="http://schemas.openxmlformats.org/drawingml/2006/main" noGrp="1"/>
          </p:cNvSpPr>
          <p:nvPr/>
        </p:nvSpPr>
        <p:spPr>
          <a:xfrm xmlns:a="http://schemas.openxmlformats.org/drawingml/2006/main">
            <a:off x="8181975" y="2190750"/>
            <a:ext cx="33242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75" b="1">
                <a:solidFill>
                  <a:srgbClr val="702321"/>
                </a:solidFill>
                <a:latin typeface="Arial"/>
                <a:ea typeface="Arial"/>
                <a:cs typeface="Arial"/>
              </a:defRPr>
            </a:pPr>
            <a:r>
              <a:rPr sz="2175" b="1">
                <a:solidFill>
                  <a:srgbClr val="702321"/>
                </a:solidFill>
                <a:latin typeface="Arial"/>
                <a:ea typeface="Arial"/>
                <a:cs typeface="Arial"/>
              </a:rPr>
              <a:t>CAPTURED</a:t>
            </a:r>
          </a:p>
        </p:txBody>
      </p:sp>
      <p:sp>
        <p:nvSpPr>
          <p:cNvPr id="8" name="">
            <a:extLst xmlns:a="http://schemas.openxmlformats.org/drawingml/2006/main">
              <a:ext uri="{FF2B5EF4-FFF2-40B4-BE49-F238E27FC236}">
                <a16:creationId xmlns:a16="http://schemas.microsoft.com/office/drawing/2014/main" id="{873607D4-0515-40F5-8E49-A0012A09831B}"/>
              </a:ext>
            </a:extLst>
          </p:cNvPr>
          <p:cNvSpPr>
            <a:spLocks xmlns:a="http://schemas.openxmlformats.org/drawingml/2006/main" noGrp="1"/>
          </p:cNvSpPr>
          <p:nvPr/>
        </p:nvSpPr>
        <p:spPr>
          <a:xfrm xmlns:a="http://schemas.openxmlformats.org/drawingml/2006/main">
            <a:off x="8181975" y="2676525"/>
            <a:ext cx="31623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00">
                <a:solidFill>
                  <a:srgbClr val="696C65"/>
                </a:solidFill>
                <a:latin typeface="Arial"/>
                <a:ea typeface="Arial"/>
                <a:cs typeface="Arial"/>
              </a:defRPr>
            </a:pPr>
            <a:r>
              <a:rPr sz="1800">
                <a:solidFill>
                  <a:srgbClr val="696C65"/>
                </a:solidFill>
                <a:latin typeface="Arial"/>
                <a:ea typeface="Arial"/>
                <a:cs typeface="Arial"/>
              </a:rPr>
              <a:t>Stripe confirms the payment.</a:t>
            </a:r>
          </a:p>
        </p:txBody>
      </p:sp>
      <p:sp>
        <p:nvSpPr>
          <p:cNvPr id="9" name="">
            <a:extLst xmlns:a="http://schemas.openxmlformats.org/drawingml/2006/main">
              <a:ext uri="{FF2B5EF4-FFF2-40B4-BE49-F238E27FC236}">
                <a16:creationId xmlns:a16="http://schemas.microsoft.com/office/drawing/2014/main" id="{424575E9-5A51-46AA-A7A5-B58298A661A9}"/>
              </a:ext>
            </a:extLst>
          </p:cNvPr>
          <p:cNvSpPr>
            <a:spLocks xmlns:a="http://schemas.openxmlformats.org/drawingml/2006/main" noGrp="1"/>
          </p:cNvSpPr>
          <p:nvPr/>
        </p:nvSpPr>
        <p:spPr>
          <a:xfrm xmlns:a="http://schemas.openxmlformats.org/drawingml/2006/main">
            <a:off x="8181975" y="3714750"/>
            <a:ext cx="33242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75" b="1">
                <a:solidFill>
                  <a:srgbClr val="171914"/>
                </a:solidFill>
                <a:latin typeface="Arial"/>
                <a:ea typeface="Arial"/>
                <a:cs typeface="Arial"/>
              </a:defRPr>
            </a:pPr>
            <a:r>
              <a:rPr sz="2175" b="1">
                <a:solidFill>
                  <a:srgbClr val="171914"/>
                </a:solidFill>
                <a:latin typeface="Arial"/>
                <a:ea typeface="Arial"/>
                <a:cs typeface="Arial"/>
              </a:rPr>
              <a:t>CONFIRMED</a:t>
            </a:r>
          </a:p>
        </p:txBody>
      </p:sp>
      <p:sp>
        <p:nvSpPr>
          <p:cNvPr id="10" name="">
            <a:extLst xmlns:a="http://schemas.openxmlformats.org/drawingml/2006/main">
              <a:ext uri="{FF2B5EF4-FFF2-40B4-BE49-F238E27FC236}">
                <a16:creationId xmlns:a16="http://schemas.microsoft.com/office/drawing/2014/main" id="{03BF14EE-C8A4-4A1E-811B-1C2618D9FDC0}"/>
              </a:ext>
            </a:extLst>
          </p:cNvPr>
          <p:cNvSpPr>
            <a:spLocks xmlns:a="http://schemas.openxmlformats.org/drawingml/2006/main" noGrp="1"/>
          </p:cNvSpPr>
          <p:nvPr/>
        </p:nvSpPr>
        <p:spPr>
          <a:xfrm xmlns:a="http://schemas.openxmlformats.org/drawingml/2006/main">
            <a:off x="8181975" y="4200525"/>
            <a:ext cx="32385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00">
                <a:solidFill>
                  <a:srgbClr val="696C65"/>
                </a:solidFill>
                <a:latin typeface="Arial"/>
                <a:ea typeface="Arial"/>
                <a:cs typeface="Arial"/>
              </a:defRPr>
            </a:pPr>
            <a:r>
              <a:rPr sz="1800">
                <a:solidFill>
                  <a:srgbClr val="696C65"/>
                </a:solidFill>
                <a:latin typeface="Arial"/>
                <a:ea typeface="Arial"/>
                <a:cs typeface="Arial"/>
              </a:rPr>
              <a:t>The demo merchant confirms</a:t>
            </a:r>
          </a:p>
          <a:p xmlns:a="http://schemas.openxmlformats.org/drawingml/2006/main">
            <a:pPr>
              <a:defRPr sz="1800">
                <a:solidFill>
                  <a:srgbClr val="696C65"/>
                </a:solidFill>
                <a:latin typeface="Arial"/>
                <a:ea typeface="Arial"/>
                <a:cs typeface="Arial"/>
              </a:defRPr>
            </a:pPr>
            <a:r>
              <a:rPr sz="1800">
                <a:solidFill>
                  <a:srgbClr val="696C65"/>
                </a:solidFill>
                <a:latin typeface="Arial"/>
                <a:ea typeface="Arial"/>
                <a:cs typeface="Arial"/>
              </a:rPr>
              <a:t>the order independently.</a:t>
            </a:r>
          </a:p>
        </p:txBody>
      </p:sp>
      <p:sp>
        <p:nvSpPr>
          <p:cNvPr id="11" name="">
            <a:extLst xmlns:a="http://schemas.openxmlformats.org/drawingml/2006/main">
              <a:ext uri="{FF2B5EF4-FFF2-40B4-BE49-F238E27FC236}">
                <a16:creationId xmlns:a16="http://schemas.microsoft.com/office/drawing/2014/main" id="{0137050A-08D3-4C69-8105-C897EA225894}"/>
              </a:ext>
            </a:extLst>
          </p:cNvPr>
          <p:cNvSpPr>
            <a:spLocks xmlns:a="http://schemas.openxmlformats.org/drawingml/2006/main" noGrp="1"/>
          </p:cNvSpPr>
          <p:nvPr/>
        </p:nvSpPr>
        <p:spPr>
          <a:xfrm xmlns:a="http://schemas.openxmlformats.org/drawingml/2006/main">
            <a:off x="8181975" y="5286375"/>
            <a:ext cx="32385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a:solidFill>
                  <a:srgbClr val="171914"/>
                </a:solidFill>
                <a:latin typeface="Arial"/>
                <a:ea typeface="Arial"/>
                <a:cs typeface="Arial"/>
              </a:defRPr>
            </a:pPr>
            <a:r>
              <a:rPr sz="1650">
                <a:solidFill>
                  <a:srgbClr val="171914"/>
                </a:solidFill>
                <a:latin typeface="Arial"/>
                <a:ea typeface="Arial"/>
                <a:cs typeface="Arial"/>
              </a:rPr>
              <a:t>Mandate, rule decisions, provider references and signed receipts remain in Judge evidence.</a:t>
            </a:r>
          </a:p>
        </p:txBody>
      </p:sp>
    </p:spTree>
    <p:extLst>
      <p:ext uri="{BB962C8B-B14F-4D97-AF65-F5344CB8AC3E}">
        <p14:creationId xmlns:p14="http://schemas.microsoft.com/office/powerpoint/2010/main" val="2131232021"/>
      </p:ext>
    </p:extLst>
  </p:cSld>
</p:sld>
</file>

<file path=ppt/slides/slide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4E16926-E08F-4CC1-8ABC-74085D6117CD}"/>
              </a:ext>
            </a:extLst>
          </p:cNvPr>
          <p:cNvSpPr>
            <a:spLocks xmlns:a="http://schemas.openxmlformats.org/drawingml/2006/main" noGrp="1"/>
          </p:cNvSpPr>
          <p:nvPr/>
        </p:nvSpPr>
        <p:spPr>
          <a:xfrm xmlns:a="http://schemas.openxmlformats.org/drawingml/2006/main">
            <a:off x="685800" y="361950"/>
            <a:ext cx="10820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125" b="1">
                <a:solidFill>
                  <a:srgbClr val="702321"/>
                </a:solidFill>
                <a:latin typeface="Arial"/>
                <a:ea typeface="Arial"/>
                <a:cs typeface="Arial"/>
              </a:defRPr>
            </a:pPr>
            <a:r>
              <a:rPr sz="1125" b="1">
                <a:solidFill>
                  <a:srgbClr val="702321"/>
                </a:solidFill>
                <a:latin typeface="Arial"/>
                <a:ea typeface="Arial"/>
                <a:cs typeface="Arial"/>
              </a:rPr>
              <a:t>06 / DEPLOYMENT PROOF</a:t>
            </a:r>
          </a:p>
        </p:txBody>
      </p:sp>
      <p:sp>
        <p:nvSpPr>
          <p:cNvPr id="2" name="">
            <a:extLst xmlns:a="http://schemas.openxmlformats.org/drawingml/2006/main">
              <a:ext uri="{FF2B5EF4-FFF2-40B4-BE49-F238E27FC236}">
                <a16:creationId xmlns:a16="http://schemas.microsoft.com/office/drawing/2014/main" id="{84FB5A93-D825-4BA4-B6AE-06A600E53315}"/>
              </a:ext>
            </a:extLst>
          </p:cNvPr>
          <p:cNvSpPr>
            <a:spLocks xmlns:a="http://schemas.openxmlformats.org/drawingml/2006/main" noGrp="1"/>
          </p:cNvSpPr>
          <p:nvPr/>
        </p:nvSpPr>
        <p:spPr>
          <a:xfrm xmlns:a="http://schemas.openxmlformats.org/drawingml/2006/main">
            <a:off x="685800" y="885825"/>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71914"/>
                </a:solidFill>
                <a:latin typeface="Arial"/>
                <a:ea typeface="Arial"/>
                <a:cs typeface="Arial"/>
              </a:defRPr>
            </a:pPr>
            <a:r>
              <a:rPr sz="3600" b="1">
                <a:solidFill>
                  <a:srgbClr val="171914"/>
                </a:solidFill>
                <a:latin typeface="Arial"/>
                <a:ea typeface="Arial"/>
                <a:cs typeface="Arial"/>
              </a:rPr>
              <a:t>Cloud persistence and mobile return</a:t>
            </a:r>
          </a:p>
        </p:txBody>
      </p:sp>
      <p:sp>
        <p:nvSpPr>
          <p:cNvPr id="3" name="">
            <a:extLst xmlns:a="http://schemas.openxmlformats.org/drawingml/2006/main">
              <a:ext uri="{FF2B5EF4-FFF2-40B4-BE49-F238E27FC236}">
                <a16:creationId xmlns:a16="http://schemas.microsoft.com/office/drawing/2014/main" id="{8DB34C28-1014-4EE4-BE22-2F7068405984}"/>
              </a:ext>
            </a:extLst>
          </p:cNvPr>
          <p:cNvSpPr>
            <a:spLocks xmlns:a="http://schemas.openxmlformats.org/drawingml/2006/main" noGrp="1"/>
          </p:cNvSpPr>
          <p:nvPr/>
        </p:nvSpPr>
        <p:spPr>
          <a:xfrm xmlns:a="http://schemas.openxmlformats.org/drawingml/2006/main">
            <a:off x="685800" y="641985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125" b="1">
                <a:solidFill>
                  <a:srgbClr val="171914"/>
                </a:solidFill>
                <a:latin typeface="Arial"/>
                <a:ea typeface="Arial"/>
                <a:cs typeface="Arial"/>
              </a:defRPr>
            </a:pPr>
            <a:r>
              <a:rPr sz="1125" b="1">
                <a:solidFill>
                  <a:srgbClr val="171914"/>
                </a:solidFill>
                <a:latin typeface="Arial"/>
                <a:ea typeface="Arial"/>
                <a:cs typeface="Arial"/>
              </a:rPr>
              <a:t>CrossCart</a:t>
            </a:r>
          </a:p>
        </p:txBody>
      </p:sp>
      <p:sp>
        <p:nvSpPr>
          <p:cNvPr id="4" name="">
            <a:extLst xmlns:a="http://schemas.openxmlformats.org/drawingml/2006/main">
              <a:ext uri="{FF2B5EF4-FFF2-40B4-BE49-F238E27FC236}">
                <a16:creationId xmlns:a16="http://schemas.microsoft.com/office/drawing/2014/main" id="{192DB3ED-61AC-4134-AC6E-09B44BE04089}"/>
              </a:ext>
            </a:extLst>
          </p:cNvPr>
          <p:cNvSpPr>
            <a:spLocks xmlns:a="http://schemas.openxmlformats.org/drawingml/2006/main" noGrp="1"/>
          </p:cNvSpPr>
          <p:nvPr/>
        </p:nvSpPr>
        <p:spPr>
          <a:xfrm xmlns:a="http://schemas.openxmlformats.org/drawingml/2006/main">
            <a:off x="6667500" y="6419850"/>
            <a:ext cx="43243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050">
                <a:solidFill>
                  <a:srgbClr val="696C65"/>
                </a:solidFill>
                <a:latin typeface="Arial"/>
                <a:ea typeface="Arial"/>
                <a:cs typeface="Arial"/>
              </a:defRPr>
            </a:pPr>
            <a:r>
              <a:rPr sz="1050">
                <a:solidFill>
                  <a:srgbClr val="696C65"/>
                </a:solidFill>
                <a:latin typeface="Arial"/>
                <a:ea typeface="Arial"/>
                <a:cs typeface="Arial"/>
              </a:rPr>
              <a:t>Stripe test mode · Synthetic merchants</a:t>
            </a:r>
          </a:p>
        </p:txBody>
      </p:sp>
      <p:sp>
        <p:nvSpPr>
          <p:cNvPr id="5" name="">
            <a:extLst xmlns:a="http://schemas.openxmlformats.org/drawingml/2006/main">
              <a:ext uri="{FF2B5EF4-FFF2-40B4-BE49-F238E27FC236}">
                <a16:creationId xmlns:a16="http://schemas.microsoft.com/office/drawing/2014/main" id="{58AFF608-041C-413E-AA7A-6BE2834A3BD1}"/>
              </a:ext>
            </a:extLst>
          </p:cNvPr>
          <p:cNvSpPr>
            <a:spLocks xmlns:a="http://schemas.openxmlformats.org/drawingml/2006/main" noGrp="1"/>
          </p:cNvSpPr>
          <p:nvPr/>
        </p:nvSpPr>
        <p:spPr>
          <a:xfrm xmlns:a="http://schemas.openxmlformats.org/drawingml/2006/main">
            <a:off x="11172825" y="640080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200">
                <a:solidFill>
                  <a:srgbClr val="696C65"/>
                </a:solidFill>
                <a:latin typeface="Arial"/>
                <a:ea typeface="Arial"/>
                <a:cs typeface="Arial"/>
              </a:defRPr>
            </a:pPr>
            <a:r>
              <a:rPr sz="1200">
                <a:solidFill>
                  <a:srgbClr val="696C65"/>
                </a:solidFill>
                <a:latin typeface="Arial"/>
                <a:ea typeface="Arial"/>
                <a:cs typeface="Arial"/>
              </a:rPr>
              <a:t>7</a:t>
            </a:r>
          </a:p>
        </p:txBody>
      </p:sp>
      <p:sp>
        <p:nvSpPr>
          <p:cNvPr id="6" name="">
            <a:extLst xmlns:a="http://schemas.openxmlformats.org/drawingml/2006/main">
              <a:ext uri="{FF2B5EF4-FFF2-40B4-BE49-F238E27FC236}">
                <a16:creationId xmlns:a16="http://schemas.microsoft.com/office/drawing/2014/main" id="{744A3A6D-4048-4943-9EF4-D567964C89A1}"/>
              </a:ext>
            </a:extLst>
          </p:cNvPr>
          <p:cNvSpPr>
            <a:spLocks xmlns:a="http://schemas.openxmlformats.org/drawingml/2006/main" noGrp="1"/>
          </p:cNvSpPr>
          <p:nvPr/>
        </p:nvSpPr>
        <p:spPr>
          <a:xfrm xmlns:a="http://schemas.openxmlformats.org/drawingml/2006/main">
            <a:off x="685800" y="2105025"/>
            <a:ext cx="3333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6450" b="1">
                <a:solidFill>
                  <a:srgbClr val="171914"/>
                </a:solidFill>
                <a:latin typeface="Arial"/>
                <a:ea typeface="Arial"/>
                <a:cs typeface="Arial"/>
              </a:defRPr>
            </a:pPr>
            <a:r>
              <a:rPr sz="6450" b="1">
                <a:solidFill>
                  <a:srgbClr val="171914"/>
                </a:solidFill>
                <a:latin typeface="Arial"/>
                <a:ea typeface="Arial"/>
                <a:cs typeface="Arial"/>
              </a:rPr>
              <a:t>114</a:t>
            </a:r>
          </a:p>
        </p:txBody>
      </p:sp>
      <p:sp>
        <p:nvSpPr>
          <p:cNvPr id="7" name="">
            <a:extLst xmlns:a="http://schemas.openxmlformats.org/drawingml/2006/main">
              <a:ext uri="{FF2B5EF4-FFF2-40B4-BE49-F238E27FC236}">
                <a16:creationId xmlns:a16="http://schemas.microsoft.com/office/drawing/2014/main" id="{E125C5BF-B887-4DEA-9F09-977D78F3ABF7}"/>
              </a:ext>
            </a:extLst>
          </p:cNvPr>
          <p:cNvSpPr>
            <a:spLocks xmlns:a="http://schemas.openxmlformats.org/drawingml/2006/main" noGrp="1"/>
          </p:cNvSpPr>
          <p:nvPr/>
        </p:nvSpPr>
        <p:spPr>
          <a:xfrm xmlns:a="http://schemas.openxmlformats.org/drawingml/2006/main">
            <a:off x="723900" y="3162300"/>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025">
                <a:solidFill>
                  <a:srgbClr val="696C65"/>
                </a:solidFill>
                <a:latin typeface="Arial"/>
                <a:ea typeface="Arial"/>
                <a:cs typeface="Arial"/>
              </a:defRPr>
            </a:pPr>
            <a:r>
              <a:rPr sz="2025">
                <a:solidFill>
                  <a:srgbClr val="696C65"/>
                </a:solidFill>
                <a:latin typeface="Arial"/>
                <a:ea typeface="Arial"/>
                <a:cs typeface="Arial"/>
              </a:rPr>
              <a:t>Offline checks</a:t>
            </a:r>
          </a:p>
        </p:txBody>
      </p:sp>
      <p:sp>
        <p:nvSpPr>
          <p:cNvPr id="8" name="">
            <a:extLst xmlns:a="http://schemas.openxmlformats.org/drawingml/2006/main">
              <a:ext uri="{FF2B5EF4-FFF2-40B4-BE49-F238E27FC236}">
                <a16:creationId xmlns:a16="http://schemas.microsoft.com/office/drawing/2014/main" id="{0F5C453A-51C4-430C-9346-CDBD3CEB65A3}"/>
              </a:ext>
            </a:extLst>
          </p:cNvPr>
          <p:cNvSpPr>
            <a:spLocks xmlns:a="http://schemas.openxmlformats.org/drawingml/2006/main" noGrp="1"/>
          </p:cNvSpPr>
          <p:nvPr/>
        </p:nvSpPr>
        <p:spPr>
          <a:xfrm xmlns:a="http://schemas.openxmlformats.org/drawingml/2006/main">
            <a:off x="4543425" y="2105025"/>
            <a:ext cx="304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6450" b="1">
                <a:solidFill>
                  <a:srgbClr val="171914"/>
                </a:solidFill>
                <a:latin typeface="Arial"/>
                <a:ea typeface="Arial"/>
                <a:cs typeface="Arial"/>
              </a:defRPr>
            </a:pPr>
            <a:r>
              <a:rPr sz="6450" b="1">
                <a:solidFill>
                  <a:srgbClr val="171914"/>
                </a:solidFill>
                <a:latin typeface="Arial"/>
                <a:ea typeface="Arial"/>
                <a:cs typeface="Arial"/>
              </a:rPr>
              <a:t>18</a:t>
            </a:r>
          </a:p>
        </p:txBody>
      </p:sp>
      <p:sp>
        <p:nvSpPr>
          <p:cNvPr id="9" name="">
            <a:extLst xmlns:a="http://schemas.openxmlformats.org/drawingml/2006/main">
              <a:ext uri="{FF2B5EF4-FFF2-40B4-BE49-F238E27FC236}">
                <a16:creationId xmlns:a16="http://schemas.microsoft.com/office/drawing/2014/main" id="{25472F55-1FB2-4AEB-8DEB-68667D6700AF}"/>
              </a:ext>
            </a:extLst>
          </p:cNvPr>
          <p:cNvSpPr>
            <a:spLocks xmlns:a="http://schemas.openxmlformats.org/drawingml/2006/main" noGrp="1"/>
          </p:cNvSpPr>
          <p:nvPr/>
        </p:nvSpPr>
        <p:spPr>
          <a:xfrm xmlns:a="http://schemas.openxmlformats.org/drawingml/2006/main">
            <a:off x="4581525" y="3162300"/>
            <a:ext cx="3476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025">
                <a:solidFill>
                  <a:srgbClr val="696C65"/>
                </a:solidFill>
                <a:latin typeface="Arial"/>
                <a:ea typeface="Arial"/>
                <a:cs typeface="Arial"/>
              </a:defRPr>
            </a:pPr>
            <a:r>
              <a:rPr sz="2025">
                <a:solidFill>
                  <a:srgbClr val="696C65"/>
                </a:solidFill>
                <a:latin typeface="Arial"/>
                <a:ea typeface="Arial"/>
                <a:cs typeface="Arial"/>
              </a:rPr>
              <a:t>Local browser checks</a:t>
            </a:r>
          </a:p>
        </p:txBody>
      </p:sp>
      <p:sp>
        <p:nvSpPr>
          <p:cNvPr id="10" name="">
            <a:extLst xmlns:a="http://schemas.openxmlformats.org/drawingml/2006/main">
              <a:ext uri="{FF2B5EF4-FFF2-40B4-BE49-F238E27FC236}">
                <a16:creationId xmlns:a16="http://schemas.microsoft.com/office/drawing/2014/main" id="{81ECC001-25BD-489D-AA67-8266BE9ABE52}"/>
              </a:ext>
            </a:extLst>
          </p:cNvPr>
          <p:cNvSpPr>
            <a:spLocks xmlns:a="http://schemas.openxmlformats.org/drawingml/2006/main" noGrp="1"/>
          </p:cNvSpPr>
          <p:nvPr/>
        </p:nvSpPr>
        <p:spPr>
          <a:xfrm xmlns:a="http://schemas.openxmlformats.org/drawingml/2006/main">
            <a:off x="8496300" y="2105025"/>
            <a:ext cx="304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6450" b="1">
                <a:solidFill>
                  <a:srgbClr val="702321"/>
                </a:solidFill>
                <a:latin typeface="Arial"/>
                <a:ea typeface="Arial"/>
                <a:cs typeface="Arial"/>
              </a:defRPr>
            </a:pPr>
            <a:r>
              <a:rPr sz="6450" b="1">
                <a:solidFill>
                  <a:srgbClr val="702321"/>
                </a:solidFill>
                <a:latin typeface="Arial"/>
                <a:ea typeface="Arial"/>
                <a:cs typeface="Arial"/>
              </a:rPr>
              <a:t>8 + 1</a:t>
            </a:r>
          </a:p>
        </p:txBody>
      </p:sp>
      <p:sp>
        <p:nvSpPr>
          <p:cNvPr id="11" name="">
            <a:extLst xmlns:a="http://schemas.openxmlformats.org/drawingml/2006/main">
              <a:ext uri="{FF2B5EF4-FFF2-40B4-BE49-F238E27FC236}">
                <a16:creationId xmlns:a16="http://schemas.microsoft.com/office/drawing/2014/main" id="{6F51BED3-54BE-4E64-BD39-79049604C79B}"/>
              </a:ext>
            </a:extLst>
          </p:cNvPr>
          <p:cNvSpPr>
            <a:spLocks xmlns:a="http://schemas.openxmlformats.org/drawingml/2006/main" noGrp="1"/>
          </p:cNvSpPr>
          <p:nvPr/>
        </p:nvSpPr>
        <p:spPr>
          <a:xfrm xmlns:a="http://schemas.openxmlformats.org/drawingml/2006/main">
            <a:off x="8534400" y="3162300"/>
            <a:ext cx="304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025">
                <a:solidFill>
                  <a:srgbClr val="702321"/>
                </a:solidFill>
                <a:latin typeface="Arial"/>
                <a:ea typeface="Arial"/>
                <a:cs typeface="Arial"/>
              </a:defRPr>
            </a:pPr>
            <a:r>
              <a:rPr sz="2025">
                <a:solidFill>
                  <a:srgbClr val="702321"/>
                </a:solidFill>
                <a:latin typeface="Arial"/>
                <a:ea typeface="Arial"/>
                <a:cs typeface="Arial"/>
              </a:rPr>
              <a:t>Public Stripe cases</a:t>
            </a:r>
          </a:p>
        </p:txBody>
      </p:sp>
      <p:sp>
        <p:nvSpPr>
          <p:cNvPr id="12" name="">
            <a:extLst xmlns:a="http://schemas.openxmlformats.org/drawingml/2006/main">
              <a:ext uri="{FF2B5EF4-FFF2-40B4-BE49-F238E27FC236}">
                <a16:creationId xmlns:a16="http://schemas.microsoft.com/office/drawing/2014/main" id="{2153209B-9BBA-4F9C-9ADC-CF7F55F97321}"/>
              </a:ext>
            </a:extLst>
          </p:cNvPr>
          <p:cNvSpPr>
            <a:spLocks xmlns:a="http://schemas.openxmlformats.org/drawingml/2006/main" noGrp="1"/>
          </p:cNvSpPr>
          <p:nvPr/>
        </p:nvSpPr>
        <p:spPr>
          <a:xfrm xmlns:a="http://schemas.openxmlformats.org/drawingml/2006/main">
            <a:off x="723900" y="4114800"/>
            <a:ext cx="10668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325">
                <a:solidFill>
                  <a:srgbClr val="171914"/>
                </a:solidFill>
                <a:latin typeface="Arial"/>
                <a:ea typeface="Arial"/>
                <a:cs typeface="Arial"/>
              </a:defRPr>
            </a:pPr>
            <a:r>
              <a:rPr sz="2325">
                <a:solidFill>
                  <a:srgbClr val="171914"/>
                </a:solidFill>
                <a:latin typeface="Arial"/>
                <a:ea typeface="Arial"/>
                <a:cs typeface="Arial"/>
              </a:rPr>
              <a:t>A focused webhook case completed the order with the browser return blocked and no CrossCart API polling.</a:t>
            </a:r>
          </a:p>
        </p:txBody>
      </p:sp>
      <p:sp>
        <p:nvSpPr>
          <p:cNvPr id="13" name="">
            <a:extLst xmlns:a="http://schemas.openxmlformats.org/drawingml/2006/main">
              <a:ext uri="{FF2B5EF4-FFF2-40B4-BE49-F238E27FC236}">
                <a16:creationId xmlns:a16="http://schemas.microsoft.com/office/drawing/2014/main" id="{8BFCBFDB-A144-4737-B21E-DCC9D2C35ACE}"/>
              </a:ext>
            </a:extLst>
          </p:cNvPr>
          <p:cNvSpPr>
            <a:spLocks xmlns:a="http://schemas.openxmlformats.org/drawingml/2006/main" noGrp="1"/>
          </p:cNvSpPr>
          <p:nvPr/>
        </p:nvSpPr>
        <p:spPr>
          <a:xfrm xmlns:a="http://schemas.openxmlformats.org/drawingml/2006/main">
            <a:off x="723900" y="5286375"/>
            <a:ext cx="1062037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a:solidFill>
                  <a:srgbClr val="696C65"/>
                </a:solidFill>
                <a:latin typeface="Arial"/>
                <a:ea typeface="Arial"/>
                <a:cs typeface="Arial"/>
              </a:defRPr>
            </a:pPr>
            <a:r>
              <a:rPr sz="1875">
                <a:solidFill>
                  <a:srgbClr val="696C65"/>
                </a:solidFill>
                <a:latin typeface="Arial"/>
                <a:ea typeface="Arial"/>
                <a:cs typeface="Arial"/>
              </a:rPr>
              <a:t>Vercel HTTPS + Neon PostgreSQL. Separate visitor sessions.</a:t>
            </a:r>
          </a:p>
          <a:p xmlns:a="http://schemas.openxmlformats.org/drawingml/2006/main">
            <a:pPr>
              <a:defRPr sz="1875">
                <a:solidFill>
                  <a:srgbClr val="696C65"/>
                </a:solidFill>
                <a:latin typeface="Arial"/>
                <a:ea typeface="Arial"/>
                <a:cs typeface="Arial"/>
              </a:defRPr>
            </a:pPr>
            <a:r>
              <a:rPr sz="1875">
                <a:solidFill>
                  <a:srgbClr val="696C65"/>
                </a:solidFill>
                <a:latin typeface="Arial"/>
                <a:ea typeface="Arial"/>
                <a:cs typeface="Arial"/>
              </a:rPr>
              <a:t>The developer/user also reported “Purchase confirmed.” on a phone at the public URL.</a:t>
            </a:r>
          </a:p>
        </p:txBody>
      </p:sp>
    </p:spTree>
    <p:extLst>
      <p:ext uri="{BB962C8B-B14F-4D97-AF65-F5344CB8AC3E}">
        <p14:creationId xmlns:p14="http://schemas.microsoft.com/office/powerpoint/2010/main" val="1162622304"/>
      </p:ext>
    </p:extLst>
  </p:cSld>
</p:sld>
</file>

<file path=ppt/slides/slide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DA1AFE1-45B8-4787-94C2-DDA080CA724C}"/>
              </a:ext>
            </a:extLst>
          </p:cNvPr>
          <p:cNvSpPr>
            <a:spLocks xmlns:a="http://schemas.openxmlformats.org/drawingml/2006/main" noGrp="1"/>
          </p:cNvSpPr>
          <p:nvPr/>
        </p:nvSpPr>
        <p:spPr>
          <a:xfrm xmlns:a="http://schemas.openxmlformats.org/drawingml/2006/main">
            <a:off x="685800" y="361950"/>
            <a:ext cx="10820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125" b="1">
                <a:solidFill>
                  <a:srgbClr val="702321"/>
                </a:solidFill>
                <a:latin typeface="Arial"/>
                <a:ea typeface="Arial"/>
                <a:cs typeface="Arial"/>
              </a:defRPr>
            </a:pPr>
            <a:r>
              <a:rPr sz="1125" b="1">
                <a:solidFill>
                  <a:srgbClr val="702321"/>
                </a:solidFill>
                <a:latin typeface="Arial"/>
                <a:ea typeface="Arial"/>
                <a:cs typeface="Arial"/>
              </a:rPr>
              <a:t>07 / SAME-TASK BENCHMARK</a:t>
            </a:r>
          </a:p>
        </p:txBody>
      </p:sp>
      <p:sp>
        <p:nvSpPr>
          <p:cNvPr id="2" name="">
            <a:extLst xmlns:a="http://schemas.openxmlformats.org/drawingml/2006/main">
              <a:ext uri="{FF2B5EF4-FFF2-40B4-BE49-F238E27FC236}">
                <a16:creationId xmlns:a16="http://schemas.microsoft.com/office/drawing/2014/main" id="{B21E0B96-BAE6-4E1D-AEAE-A9A8AFA426AA}"/>
              </a:ext>
            </a:extLst>
          </p:cNvPr>
          <p:cNvSpPr>
            <a:spLocks xmlns:a="http://schemas.openxmlformats.org/drawingml/2006/main" noGrp="1"/>
          </p:cNvSpPr>
          <p:nvPr/>
        </p:nvSpPr>
        <p:spPr>
          <a:xfrm xmlns:a="http://schemas.openxmlformats.org/drawingml/2006/main">
            <a:off x="685800" y="885825"/>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71914"/>
                </a:solidFill>
                <a:latin typeface="Arial"/>
                <a:ea typeface="Arial"/>
                <a:cs typeface="Arial"/>
              </a:defRPr>
            </a:pPr>
            <a:r>
              <a:rPr sz="3600" b="1">
                <a:solidFill>
                  <a:srgbClr val="171914"/>
                </a:solidFill>
                <a:latin typeface="Arial"/>
                <a:ea typeface="Arial"/>
                <a:cs typeface="Arial"/>
              </a:rPr>
              <a:t>Fewer actions in the comparison stage</a:t>
            </a:r>
          </a:p>
        </p:txBody>
      </p:sp>
      <p:sp>
        <p:nvSpPr>
          <p:cNvPr id="3" name="">
            <a:extLst xmlns:a="http://schemas.openxmlformats.org/drawingml/2006/main">
              <a:ext uri="{FF2B5EF4-FFF2-40B4-BE49-F238E27FC236}">
                <a16:creationId xmlns:a16="http://schemas.microsoft.com/office/drawing/2014/main" id="{21681FE7-9959-4044-B89D-73F85724E646}"/>
              </a:ext>
            </a:extLst>
          </p:cNvPr>
          <p:cNvSpPr>
            <a:spLocks xmlns:a="http://schemas.openxmlformats.org/drawingml/2006/main" noGrp="1"/>
          </p:cNvSpPr>
          <p:nvPr/>
        </p:nvSpPr>
        <p:spPr>
          <a:xfrm xmlns:a="http://schemas.openxmlformats.org/drawingml/2006/main">
            <a:off x="685800" y="641985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125" b="1">
                <a:solidFill>
                  <a:srgbClr val="171914"/>
                </a:solidFill>
                <a:latin typeface="Arial"/>
                <a:ea typeface="Arial"/>
                <a:cs typeface="Arial"/>
              </a:defRPr>
            </a:pPr>
            <a:r>
              <a:rPr sz="1125" b="1">
                <a:solidFill>
                  <a:srgbClr val="171914"/>
                </a:solidFill>
                <a:latin typeface="Arial"/>
                <a:ea typeface="Arial"/>
                <a:cs typeface="Arial"/>
              </a:rPr>
              <a:t>CrossCart</a:t>
            </a:r>
          </a:p>
        </p:txBody>
      </p:sp>
      <p:sp>
        <p:nvSpPr>
          <p:cNvPr id="4" name="">
            <a:extLst xmlns:a="http://schemas.openxmlformats.org/drawingml/2006/main">
              <a:ext uri="{FF2B5EF4-FFF2-40B4-BE49-F238E27FC236}">
                <a16:creationId xmlns:a16="http://schemas.microsoft.com/office/drawing/2014/main" id="{1F12AEED-797D-4AD8-B92B-A8B061CE37E5}"/>
              </a:ext>
            </a:extLst>
          </p:cNvPr>
          <p:cNvSpPr>
            <a:spLocks xmlns:a="http://schemas.openxmlformats.org/drawingml/2006/main" noGrp="1"/>
          </p:cNvSpPr>
          <p:nvPr/>
        </p:nvSpPr>
        <p:spPr>
          <a:xfrm xmlns:a="http://schemas.openxmlformats.org/drawingml/2006/main">
            <a:off x="6667500" y="6419850"/>
            <a:ext cx="43243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050">
                <a:solidFill>
                  <a:srgbClr val="696C65"/>
                </a:solidFill>
                <a:latin typeface="Arial"/>
                <a:ea typeface="Arial"/>
                <a:cs typeface="Arial"/>
              </a:defRPr>
            </a:pPr>
            <a:r>
              <a:rPr sz="1050">
                <a:solidFill>
                  <a:srgbClr val="696C65"/>
                </a:solidFill>
                <a:latin typeface="Arial"/>
                <a:ea typeface="Arial"/>
                <a:cs typeface="Arial"/>
              </a:rPr>
              <a:t>Stripe test mode · Synthetic merchants</a:t>
            </a:r>
          </a:p>
        </p:txBody>
      </p:sp>
      <p:sp>
        <p:nvSpPr>
          <p:cNvPr id="5" name="">
            <a:extLst xmlns:a="http://schemas.openxmlformats.org/drawingml/2006/main">
              <a:ext uri="{FF2B5EF4-FFF2-40B4-BE49-F238E27FC236}">
                <a16:creationId xmlns:a16="http://schemas.microsoft.com/office/drawing/2014/main" id="{D9826631-FD1E-40C3-8C6C-1737AF6E7649}"/>
              </a:ext>
            </a:extLst>
          </p:cNvPr>
          <p:cNvSpPr>
            <a:spLocks xmlns:a="http://schemas.openxmlformats.org/drawingml/2006/main" noGrp="1"/>
          </p:cNvSpPr>
          <p:nvPr/>
        </p:nvSpPr>
        <p:spPr>
          <a:xfrm xmlns:a="http://schemas.openxmlformats.org/drawingml/2006/main">
            <a:off x="11172825" y="640080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200">
                <a:solidFill>
                  <a:srgbClr val="696C65"/>
                </a:solidFill>
                <a:latin typeface="Arial"/>
                <a:ea typeface="Arial"/>
                <a:cs typeface="Arial"/>
              </a:defRPr>
            </a:pPr>
            <a:r>
              <a:rPr sz="1200">
                <a:solidFill>
                  <a:srgbClr val="696C65"/>
                </a:solidFill>
                <a:latin typeface="Arial"/>
                <a:ea typeface="Arial"/>
                <a:cs typeface="Arial"/>
              </a:rPr>
              <a:t>8</a:t>
            </a:r>
          </a:p>
        </p:txBody>
      </p:sp>
      <p:sp>
        <p:nvSpPr>
          <p:cNvPr id="6" name="">
            <a:extLst xmlns:a="http://schemas.openxmlformats.org/drawingml/2006/main">
              <a:ext uri="{FF2B5EF4-FFF2-40B4-BE49-F238E27FC236}">
                <a16:creationId xmlns:a16="http://schemas.microsoft.com/office/drawing/2014/main" id="{15139D11-A5F0-4D70-80A1-7328B8E8EE97}"/>
              </a:ext>
            </a:extLst>
          </p:cNvPr>
          <p:cNvSpPr>
            <a:spLocks xmlns:a="http://schemas.openxmlformats.org/drawingml/2006/main" noGrp="1"/>
          </p:cNvSpPr>
          <p:nvPr/>
        </p:nvSpPr>
        <p:spPr>
          <a:xfrm xmlns:a="http://schemas.openxmlformats.org/drawingml/2006/main">
            <a:off x="723900" y="2114550"/>
            <a:ext cx="4429125"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0350" b="1">
                <a:solidFill>
                  <a:srgbClr val="171914"/>
                </a:solidFill>
                <a:latin typeface="Arial"/>
                <a:ea typeface="Arial"/>
                <a:cs typeface="Arial"/>
              </a:defRPr>
            </a:pPr>
            <a:r>
              <a:rPr sz="10350" b="1">
                <a:solidFill>
                  <a:srgbClr val="171914"/>
                </a:solidFill>
                <a:latin typeface="Arial"/>
                <a:ea typeface="Arial"/>
                <a:cs typeface="Arial"/>
              </a:rPr>
              <a:t>4</a:t>
            </a:r>
          </a:p>
        </p:txBody>
      </p:sp>
      <p:sp>
        <p:nvSpPr>
          <p:cNvPr id="7" name="">
            <a:extLst xmlns:a="http://schemas.openxmlformats.org/drawingml/2006/main">
              <a:ext uri="{FF2B5EF4-FFF2-40B4-BE49-F238E27FC236}">
                <a16:creationId xmlns:a16="http://schemas.microsoft.com/office/drawing/2014/main" id="{1C93FC0C-D759-4AF5-AAB7-AE15BCAA4A08}"/>
              </a:ext>
            </a:extLst>
          </p:cNvPr>
          <p:cNvSpPr>
            <a:spLocks xmlns:a="http://schemas.openxmlformats.org/drawingml/2006/main" noGrp="1"/>
          </p:cNvSpPr>
          <p:nvPr/>
        </p:nvSpPr>
        <p:spPr>
          <a:xfrm xmlns:a="http://schemas.openxmlformats.org/drawingml/2006/main">
            <a:off x="771525" y="3838575"/>
            <a:ext cx="4438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325">
                <a:solidFill>
                  <a:srgbClr val="696C65"/>
                </a:solidFill>
                <a:latin typeface="Arial"/>
                <a:ea typeface="Arial"/>
                <a:cs typeface="Arial"/>
              </a:defRPr>
            </a:pPr>
            <a:r>
              <a:rPr sz="2325">
                <a:solidFill>
                  <a:srgbClr val="696C65"/>
                </a:solidFill>
                <a:latin typeface="Arial"/>
                <a:ea typeface="Arial"/>
                <a:cs typeface="Arial"/>
              </a:rPr>
              <a:t>Manual layout</a:t>
            </a:r>
          </a:p>
        </p:txBody>
      </p:sp>
      <p:sp>
        <p:nvSpPr>
          <p:cNvPr id="8" name="">
            <a:extLst xmlns:a="http://schemas.openxmlformats.org/drawingml/2006/main">
              <a:ext uri="{FF2B5EF4-FFF2-40B4-BE49-F238E27FC236}">
                <a16:creationId xmlns:a16="http://schemas.microsoft.com/office/drawing/2014/main" id="{939358E7-DC61-4756-A52F-A6C007AEC650}"/>
              </a:ext>
            </a:extLst>
          </p:cNvPr>
          <p:cNvSpPr>
            <a:spLocks xmlns:a="http://schemas.openxmlformats.org/drawingml/2006/main" noGrp="1"/>
          </p:cNvSpPr>
          <p:nvPr/>
        </p:nvSpPr>
        <p:spPr>
          <a:xfrm xmlns:a="http://schemas.openxmlformats.org/drawingml/2006/main">
            <a:off x="6753225" y="2114550"/>
            <a:ext cx="4429125"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0350" b="1">
                <a:solidFill>
                  <a:srgbClr val="702321"/>
                </a:solidFill>
                <a:latin typeface="Arial"/>
                <a:ea typeface="Arial"/>
                <a:cs typeface="Arial"/>
              </a:defRPr>
            </a:pPr>
            <a:r>
              <a:rPr sz="10350" b="1">
                <a:solidFill>
                  <a:srgbClr val="702321"/>
                </a:solidFill>
                <a:latin typeface="Arial"/>
                <a:ea typeface="Arial"/>
                <a:cs typeface="Arial"/>
              </a:rPr>
              <a:t>1</a:t>
            </a:r>
          </a:p>
        </p:txBody>
      </p:sp>
      <p:sp>
        <p:nvSpPr>
          <p:cNvPr id="9" name="">
            <a:extLst xmlns:a="http://schemas.openxmlformats.org/drawingml/2006/main">
              <a:ext uri="{FF2B5EF4-FFF2-40B4-BE49-F238E27FC236}">
                <a16:creationId xmlns:a16="http://schemas.microsoft.com/office/drawing/2014/main" id="{83410466-7FFA-4D61-87BF-9326591D261D}"/>
              </a:ext>
            </a:extLst>
          </p:cNvPr>
          <p:cNvSpPr>
            <a:spLocks xmlns:a="http://schemas.openxmlformats.org/drawingml/2006/main" noGrp="1"/>
          </p:cNvSpPr>
          <p:nvPr/>
        </p:nvSpPr>
        <p:spPr>
          <a:xfrm xmlns:a="http://schemas.openxmlformats.org/drawingml/2006/main">
            <a:off x="6800850" y="3838575"/>
            <a:ext cx="4438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325">
                <a:solidFill>
                  <a:srgbClr val="702321"/>
                </a:solidFill>
                <a:latin typeface="Arial"/>
                <a:ea typeface="Arial"/>
                <a:cs typeface="Arial"/>
              </a:defRPr>
            </a:pPr>
            <a:r>
              <a:rPr sz="2325">
                <a:solidFill>
                  <a:srgbClr val="702321"/>
                </a:solidFill>
                <a:latin typeface="Arial"/>
                <a:ea typeface="Arial"/>
                <a:cs typeface="Arial"/>
              </a:rPr>
              <a:t>CrossCart comparison</a:t>
            </a:r>
          </a:p>
        </p:txBody>
      </p:sp>
      <p:sp>
        <p:nvSpPr>
          <p:cNvPr id="10" name="">
            <a:extLst xmlns:a="http://schemas.openxmlformats.org/drawingml/2006/main">
              <a:ext uri="{FF2B5EF4-FFF2-40B4-BE49-F238E27FC236}">
                <a16:creationId xmlns:a16="http://schemas.microsoft.com/office/drawing/2014/main" id="{5DA2D99F-34FE-431D-9E8C-08F3F3998513}"/>
              </a:ext>
            </a:extLst>
          </p:cNvPr>
          <p:cNvSpPr>
            <a:spLocks xmlns:a="http://schemas.openxmlformats.org/drawingml/2006/main" noGrp="1"/>
          </p:cNvSpPr>
          <p:nvPr/>
        </p:nvSpPr>
        <p:spPr>
          <a:xfrm xmlns:a="http://schemas.openxmlformats.org/drawingml/2006/main">
            <a:off x="733425" y="4695825"/>
            <a:ext cx="1057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171914"/>
                </a:solidFill>
                <a:latin typeface="Arial"/>
                <a:ea typeface="Arial"/>
                <a:cs typeface="Arial"/>
              </a:defRPr>
            </a:pPr>
            <a:r>
              <a:rPr sz="2250" b="1">
                <a:solidFill>
                  <a:srgbClr val="171914"/>
                </a:solidFill>
                <a:latin typeface="Arial"/>
                <a:ea typeface="Arial"/>
                <a:cs typeface="Arial"/>
              </a:rPr>
              <a:t>Same three synthetic offers. Same Merchant A. Same HK$1,749.</a:t>
            </a:r>
          </a:p>
        </p:txBody>
      </p:sp>
      <p:sp>
        <p:nvSpPr>
          <p:cNvPr id="11" name="">
            <a:extLst xmlns:a="http://schemas.openxmlformats.org/drawingml/2006/main">
              <a:ext uri="{FF2B5EF4-FFF2-40B4-BE49-F238E27FC236}">
                <a16:creationId xmlns:a16="http://schemas.microsoft.com/office/drawing/2014/main" id="{213C9CFA-34AA-422F-B1AE-89299D9226B7}"/>
              </a:ext>
            </a:extLst>
          </p:cNvPr>
          <p:cNvSpPr>
            <a:spLocks xmlns:a="http://schemas.openxmlformats.org/drawingml/2006/main" noGrp="1"/>
          </p:cNvSpPr>
          <p:nvPr/>
        </p:nvSpPr>
        <p:spPr>
          <a:xfrm xmlns:a="http://schemas.openxmlformats.org/drawingml/2006/main">
            <a:off x="733425" y="5391150"/>
            <a:ext cx="10572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a:solidFill>
                  <a:srgbClr val="696C65"/>
                </a:solidFill>
                <a:latin typeface="Arial"/>
                <a:ea typeface="Arial"/>
                <a:cs typeface="Arial"/>
              </a:defRPr>
            </a:pPr>
            <a:r>
              <a:rPr sz="1875">
                <a:solidFill>
                  <a:srgbClr val="696C65"/>
                </a:solidFill>
                <a:latin typeface="Arial"/>
                <a:ea typeface="Arial"/>
                <a:cs typeface="Arial"/>
              </a:rPr>
              <a:t>The page records actual actions and elapsed browser time.</a:t>
            </a:r>
          </a:p>
          <a:p xmlns:a="http://schemas.openxmlformats.org/drawingml/2006/main">
            <a:pPr>
              <a:defRPr sz="1875">
                <a:solidFill>
                  <a:srgbClr val="696C65"/>
                </a:solidFill>
                <a:latin typeface="Arial"/>
                <a:ea typeface="Arial"/>
                <a:cs typeface="Arial"/>
              </a:defRPr>
            </a:pPr>
            <a:r>
              <a:rPr sz="1875">
                <a:solidFill>
                  <a:srgbClr val="696C65"/>
                </a:solidFill>
                <a:latin typeface="Arial"/>
                <a:ea typeface="Arial"/>
                <a:cs typeface="Arial"/>
              </a:rPr>
              <a:t>Shared intent, approval and Checkout are excluded. No human-study or price-saving claim.</a:t>
            </a:r>
          </a:p>
        </p:txBody>
      </p:sp>
    </p:spTree>
    <p:extLst>
      <p:ext uri="{BB962C8B-B14F-4D97-AF65-F5344CB8AC3E}">
        <p14:creationId xmlns:p14="http://schemas.microsoft.com/office/powerpoint/2010/main" val="1433791965"/>
      </p:ext>
    </p:extLst>
  </p:cSld>
</p:sld>
</file>

<file path=ppt/slides/slide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AF9E69A-EAC2-4F31-8E59-7B0D3E7E90EF}"/>
              </a:ext>
            </a:extLst>
          </p:cNvPr>
          <p:cNvSpPr>
            <a:spLocks xmlns:a="http://schemas.openxmlformats.org/drawingml/2006/main" noGrp="1"/>
          </p:cNvSpPr>
          <p:nvPr/>
        </p:nvSpPr>
        <p:spPr>
          <a:xfrm xmlns:a="http://schemas.openxmlformats.org/drawingml/2006/main">
            <a:off x="685800" y="361950"/>
            <a:ext cx="10820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125" b="1">
                <a:solidFill>
                  <a:srgbClr val="702321"/>
                </a:solidFill>
                <a:latin typeface="Arial"/>
                <a:ea typeface="Arial"/>
                <a:cs typeface="Arial"/>
              </a:defRPr>
            </a:pPr>
            <a:r>
              <a:rPr sz="1125" b="1">
                <a:solidFill>
                  <a:srgbClr val="702321"/>
                </a:solidFill>
                <a:latin typeface="Arial"/>
                <a:ea typeface="Arial"/>
                <a:cs typeface="Arial"/>
              </a:rPr>
              <a:t>08 / FINANCIAL SOURCES OBSERVED 4 OCT 2026</a:t>
            </a:r>
          </a:p>
        </p:txBody>
      </p:sp>
      <p:sp>
        <p:nvSpPr>
          <p:cNvPr id="2" name="">
            <a:extLst xmlns:a="http://schemas.openxmlformats.org/drawingml/2006/main">
              <a:ext uri="{FF2B5EF4-FFF2-40B4-BE49-F238E27FC236}">
                <a16:creationId xmlns:a16="http://schemas.microsoft.com/office/drawing/2014/main" id="{60CA09A8-8BE1-45F8-9D14-5FBC28761468}"/>
              </a:ext>
            </a:extLst>
          </p:cNvPr>
          <p:cNvSpPr>
            <a:spLocks xmlns:a="http://schemas.openxmlformats.org/drawingml/2006/main" noGrp="1"/>
          </p:cNvSpPr>
          <p:nvPr/>
        </p:nvSpPr>
        <p:spPr>
          <a:xfrm xmlns:a="http://schemas.openxmlformats.org/drawingml/2006/main">
            <a:off x="685800" y="885825"/>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71914"/>
                </a:solidFill>
                <a:latin typeface="Arial"/>
                <a:ea typeface="Arial"/>
                <a:cs typeface="Arial"/>
              </a:defRPr>
            </a:pPr>
            <a:r>
              <a:rPr sz="3600" b="1">
                <a:solidFill>
                  <a:srgbClr val="171914"/>
                </a:solidFill>
                <a:latin typeface="Arial"/>
                <a:ea typeface="Arial"/>
                <a:cs typeface="Arial"/>
              </a:rPr>
              <a:t>Published rates with explicit conditions</a:t>
            </a:r>
          </a:p>
        </p:txBody>
      </p:sp>
      <p:sp>
        <p:nvSpPr>
          <p:cNvPr id="3" name="">
            <a:extLst xmlns:a="http://schemas.openxmlformats.org/drawingml/2006/main">
              <a:ext uri="{FF2B5EF4-FFF2-40B4-BE49-F238E27FC236}">
                <a16:creationId xmlns:a16="http://schemas.microsoft.com/office/drawing/2014/main" id="{EA16F629-86E5-49DC-B865-1CB47A198270}"/>
              </a:ext>
            </a:extLst>
          </p:cNvPr>
          <p:cNvSpPr>
            <a:spLocks xmlns:a="http://schemas.openxmlformats.org/drawingml/2006/main" noGrp="1"/>
          </p:cNvSpPr>
          <p:nvPr/>
        </p:nvSpPr>
        <p:spPr>
          <a:xfrm xmlns:a="http://schemas.openxmlformats.org/drawingml/2006/main">
            <a:off x="685800" y="641985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125" b="1">
                <a:solidFill>
                  <a:srgbClr val="171914"/>
                </a:solidFill>
                <a:latin typeface="Arial"/>
                <a:ea typeface="Arial"/>
                <a:cs typeface="Arial"/>
              </a:defRPr>
            </a:pPr>
            <a:r>
              <a:rPr sz="1125" b="1">
                <a:solidFill>
                  <a:srgbClr val="171914"/>
                </a:solidFill>
                <a:latin typeface="Arial"/>
                <a:ea typeface="Arial"/>
                <a:cs typeface="Arial"/>
              </a:rPr>
              <a:t>CrossCart</a:t>
            </a:r>
          </a:p>
        </p:txBody>
      </p:sp>
      <p:sp>
        <p:nvSpPr>
          <p:cNvPr id="4" name="">
            <a:extLst xmlns:a="http://schemas.openxmlformats.org/drawingml/2006/main">
              <a:ext uri="{FF2B5EF4-FFF2-40B4-BE49-F238E27FC236}">
                <a16:creationId xmlns:a16="http://schemas.microsoft.com/office/drawing/2014/main" id="{E84124BA-7E72-43ED-AA0D-E65F3D9F4853}"/>
              </a:ext>
            </a:extLst>
          </p:cNvPr>
          <p:cNvSpPr>
            <a:spLocks xmlns:a="http://schemas.openxmlformats.org/drawingml/2006/main" noGrp="1"/>
          </p:cNvSpPr>
          <p:nvPr/>
        </p:nvSpPr>
        <p:spPr>
          <a:xfrm xmlns:a="http://schemas.openxmlformats.org/drawingml/2006/main">
            <a:off x="6667500" y="6419850"/>
            <a:ext cx="43243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050">
                <a:solidFill>
                  <a:srgbClr val="696C65"/>
                </a:solidFill>
                <a:latin typeface="Arial"/>
                <a:ea typeface="Arial"/>
                <a:cs typeface="Arial"/>
              </a:defRPr>
            </a:pPr>
            <a:r>
              <a:rPr sz="1050">
                <a:solidFill>
                  <a:srgbClr val="696C65"/>
                </a:solidFill>
                <a:latin typeface="Arial"/>
                <a:ea typeface="Arial"/>
                <a:cs typeface="Arial"/>
              </a:rPr>
              <a:t>Stripe test mode · Synthetic merchants</a:t>
            </a:r>
          </a:p>
        </p:txBody>
      </p:sp>
      <p:sp>
        <p:nvSpPr>
          <p:cNvPr id="5" name="">
            <a:extLst xmlns:a="http://schemas.openxmlformats.org/drawingml/2006/main">
              <a:ext uri="{FF2B5EF4-FFF2-40B4-BE49-F238E27FC236}">
                <a16:creationId xmlns:a16="http://schemas.microsoft.com/office/drawing/2014/main" id="{E6B5077B-E99C-4AED-B1BD-A8A66190B72F}"/>
              </a:ext>
            </a:extLst>
          </p:cNvPr>
          <p:cNvSpPr>
            <a:spLocks xmlns:a="http://schemas.openxmlformats.org/drawingml/2006/main" noGrp="1"/>
          </p:cNvSpPr>
          <p:nvPr/>
        </p:nvSpPr>
        <p:spPr>
          <a:xfrm xmlns:a="http://schemas.openxmlformats.org/drawingml/2006/main">
            <a:off x="11172825" y="640080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200">
                <a:solidFill>
                  <a:srgbClr val="696C65"/>
                </a:solidFill>
                <a:latin typeface="Arial"/>
                <a:ea typeface="Arial"/>
                <a:cs typeface="Arial"/>
              </a:defRPr>
            </a:pPr>
            <a:r>
              <a:rPr sz="1200">
                <a:solidFill>
                  <a:srgbClr val="696C65"/>
                </a:solidFill>
                <a:latin typeface="Arial"/>
                <a:ea typeface="Arial"/>
                <a:cs typeface="Arial"/>
              </a:rPr>
              <a:t>9</a:t>
            </a:r>
          </a:p>
        </p:txBody>
      </p:sp>
      <p:graphicFrame>
        <p:nvGraphicFramePr>
          <p:cNvPr id="14" name=""/>
          <p:cNvGraphicFramePr/>
          <p:nvPr/>
        </p:nvGraphicFramePr>
        <p:xfrm>
          <a:off xmlns:a="http://schemas.openxmlformats.org/drawingml/2006/main" x="685800" y="2076450"/>
          <a:ext xmlns:a="http://schemas.openxmlformats.org/drawingml/2006/main" cx="10820400" cy="3200400"/>
        </p:xfrm>
        <a:graphic xmlns:a="http://schemas.openxmlformats.org/drawingml/2006/main">
          <a:graphicData uri="http://schemas.openxmlformats.org/drawingml/2006/table">
            <a:tbl>
              <a:tblPr/>
              <a:tblGrid>
                <a:gridCol w="2914650"/>
                <a:gridCol w="3810000"/>
                <a:gridCol w="4095750"/>
              </a:tblGrid>
              <a:tr h="533400">
                <a:tc>
                  <a:txBody>
                    <a:bodyPr/>
                    <a:lstStyle/>
                    <a:p>
                      <a:r>
                        <a:rPr sz="1500" b="1">
                          <a:solidFill>
                            <a:srgbClr val="FFFFFF"/>
                          </a:solidFill>
                          <a:latin typeface="Arial"/>
                          <a:ea typeface="Arial"/>
                          <a:cs typeface="Arial"/>
                        </a:rPr>
                        <a:t>Input</a:t>
                      </a:r>
                    </a:p>
                  </a:txBody>
                  <a:tcPr marL="171450" marR="171450" marT="152400" marB="152400" anchor="ctr">
                    <a:solidFill>
                      <a:srgbClr val="702321"/>
                    </a:solidFill>
                  </a:tcPr>
                </a:tc>
                <a:tc>
                  <a:txBody>
                    <a:bodyPr/>
                    <a:lstStyle/>
                    <a:p>
                      <a:r>
                        <a:rPr sz="1500" b="1">
                          <a:solidFill>
                            <a:srgbClr val="FFFFFF"/>
                          </a:solidFill>
                          <a:latin typeface="Arial"/>
                          <a:ea typeface="Arial"/>
                          <a:cs typeface="Arial"/>
                        </a:rPr>
                        <a:t>Observed rule</a:t>
                      </a:r>
                    </a:p>
                  </a:txBody>
                  <a:tcPr marL="171450" marR="171450" marT="152400" marB="152400" anchor="ctr">
                    <a:solidFill>
                      <a:srgbClr val="702321"/>
                    </a:solidFill>
                  </a:tcPr>
                </a:tc>
                <a:tc>
                  <a:txBody>
                    <a:bodyPr/>
                    <a:lstStyle/>
                    <a:p>
                      <a:r>
                        <a:rPr sz="1500" b="1">
                          <a:solidFill>
                            <a:srgbClr val="FFFFFF"/>
                          </a:solidFill>
                          <a:latin typeface="Arial"/>
                          <a:ea typeface="Arial"/>
                          <a:cs typeface="Arial"/>
                        </a:rPr>
                        <a:t>Treatment in this demo</a:t>
                      </a:r>
                    </a:p>
                  </a:txBody>
                  <a:tcPr marL="171450" marR="171450" marT="152400" marB="152400" anchor="ctr">
                    <a:solidFill>
                      <a:srgbClr val="702321"/>
                    </a:solidFill>
                  </a:tcPr>
                </a:tc>
              </a:tr>
              <a:tr h="889000">
                <a:tc>
                  <a:txBody>
                    <a:bodyPr/>
                    <a:lstStyle/>
                    <a:p>
                      <a:r>
                        <a:rPr sz="1650">
                          <a:solidFill>
                            <a:srgbClr val="171914"/>
                          </a:solidFill>
                          <a:latin typeface="Arial"/>
                          <a:ea typeface="Arial"/>
                          <a:cs typeface="Arial"/>
                        </a:rPr>
                        <a:t>Stripe HK domestic card</a:t>
                      </a:r>
                    </a:p>
                  </a:txBody>
                  <a:tcPr marL="171450" marR="171450" marT="152400" marB="152400" anchor="ctr">
                    <a:solidFill>
                      <a:srgbClr val="F8F7F2"/>
                    </a:solidFill>
                  </a:tcPr>
                </a:tc>
                <a:tc>
                  <a:txBody>
                    <a:bodyPr/>
                    <a:lstStyle/>
                    <a:p>
                      <a:r>
                        <a:rPr sz="1650">
                          <a:solidFill>
                            <a:srgbClr val="171914"/>
                          </a:solidFill>
                          <a:latin typeface="Arial"/>
                          <a:ea typeface="Arial"/>
                          <a:cs typeface="Arial"/>
                        </a:rPr>
                        <a:t>3.4% + HK$2.35</a:t>
                      </a:r>
                    </a:p>
                    <a:p>
                      <a:r>
                        <a:rPr sz="1650">
                          <a:solidFill>
                            <a:srgbClr val="171914"/>
                          </a:solidFill>
                          <a:latin typeface="Arial"/>
                          <a:ea typeface="Arial"/>
                          <a:cs typeface="Arial"/>
                        </a:rPr>
                        <a:t>HK$61.82 on HK$1,749</a:t>
                      </a:r>
                    </a:p>
                  </a:txBody>
                  <a:tcPr marL="171450" marR="171450" marT="152400" marB="152400" anchor="ctr">
                    <a:solidFill>
                      <a:srgbClr val="F8F7F2"/>
                    </a:solidFill>
                  </a:tcPr>
                </a:tc>
                <a:tc>
                  <a:txBody>
                    <a:bodyPr/>
                    <a:lstStyle/>
                    <a:p>
                      <a:r>
                        <a:rPr sz="1650">
                          <a:solidFill>
                            <a:srgbClr val="171914"/>
                          </a:solidFill>
                          <a:latin typeface="Arial"/>
                          <a:ea typeface="Arial"/>
                          <a:cs typeface="Arial"/>
                        </a:rPr>
                        <a:t>Merchant-side estimate</a:t>
                      </a:r>
                    </a:p>
                    <a:p>
                      <a:r>
                        <a:rPr sz="1650">
                          <a:solidFill>
                            <a:srgbClr val="171914"/>
                          </a:solidFill>
                          <a:latin typeface="Arial"/>
                          <a:ea typeface="Arial"/>
                          <a:cs typeface="Arial"/>
                        </a:rPr>
                        <a:t>Buyer total unchanged</a:t>
                      </a:r>
                    </a:p>
                  </a:txBody>
                  <a:tcPr marL="171450" marR="171450" marT="152400" marB="152400" anchor="ctr">
                    <a:solidFill>
                      <a:srgbClr val="F8F7F2"/>
                    </a:solidFill>
                  </a:tcPr>
                </a:tc>
              </a:tr>
              <a:tr h="889000">
                <a:tc>
                  <a:txBody>
                    <a:bodyPr/>
                    <a:lstStyle/>
                    <a:p>
                      <a:r>
                        <a:rPr sz="1650">
                          <a:solidFill>
                            <a:srgbClr val="171914"/>
                          </a:solidFill>
                          <a:latin typeface="Arial"/>
                          <a:ea typeface="Arial"/>
                          <a:cs typeface="Arial"/>
                        </a:rPr>
                        <a:t>Clubpoints redemption</a:t>
                      </a:r>
                    </a:p>
                  </a:txBody>
                  <a:tcPr marL="171450" marR="171450" marT="152400" marB="152400" anchor="ctr">
                    <a:solidFill>
                      <a:srgbClr val="F8F7F2"/>
                    </a:solidFill>
                  </a:tcPr>
                </a:tc>
                <a:tc>
                  <a:txBody>
                    <a:bodyPr/>
                    <a:lstStyle/>
                    <a:p>
                      <a:r>
                        <a:rPr sz="1650">
                          <a:solidFill>
                            <a:srgbClr val="171914"/>
                          </a:solidFill>
                          <a:latin typeface="Arial"/>
                          <a:ea typeface="Arial"/>
                          <a:cs typeface="Arial"/>
                        </a:rPr>
                        <a:t>5 points offset HK$1</a:t>
                      </a:r>
                    </a:p>
                    <a:p>
                      <a:r>
                        <a:rPr sz="1650">
                          <a:solidFill>
                            <a:srgbClr val="171914"/>
                          </a:solidFill>
                          <a:latin typeface="Arial"/>
                          <a:ea typeface="Arial"/>
                          <a:cs typeface="Arial"/>
                        </a:rPr>
                        <a:t>Specified Club Shopping route</a:t>
                      </a:r>
                    </a:p>
                  </a:txBody>
                  <a:tcPr marL="171450" marR="171450" marT="152400" marB="152400" anchor="ctr">
                    <a:solidFill>
                      <a:srgbClr val="F8F7F2"/>
                    </a:solidFill>
                  </a:tcPr>
                </a:tc>
                <a:tc>
                  <a:txBody>
                    <a:bodyPr/>
                    <a:lstStyle/>
                    <a:p>
                      <a:r>
                        <a:rPr sz="1650">
                          <a:solidFill>
                            <a:srgbClr val="171914"/>
                          </a:solidFill>
                          <a:latin typeface="Arial"/>
                          <a:ea typeface="Arial"/>
                          <a:cs typeface="Arial"/>
                        </a:rPr>
                        <a:t>Conditional reference</a:t>
                      </a:r>
                    </a:p>
                    <a:p>
                      <a:r>
                        <a:rPr sz="1650">
                          <a:solidFill>
                            <a:srgbClr val="171914"/>
                          </a:solidFill>
                          <a:latin typeface="Arial"/>
                          <a:ea typeface="Arial"/>
                          <a:cs typeface="Arial"/>
                        </a:rPr>
                        <a:t>No points discount applied</a:t>
                      </a:r>
                    </a:p>
                  </a:txBody>
                  <a:tcPr marL="171450" marR="171450" marT="152400" marB="152400" anchor="ctr">
                    <a:solidFill>
                      <a:srgbClr val="F8F7F2"/>
                    </a:solidFill>
                  </a:tcPr>
                </a:tc>
              </a:tr>
              <a:tr h="889000">
                <a:tc>
                  <a:txBody>
                    <a:bodyPr/>
                    <a:lstStyle/>
                    <a:p>
                      <a:r>
                        <a:rPr sz="1650">
                          <a:solidFill>
                            <a:srgbClr val="171914"/>
                          </a:solidFill>
                          <a:latin typeface="Arial"/>
                          <a:ea typeface="Arial"/>
                          <a:cs typeface="Arial"/>
                        </a:rPr>
                        <a:t>Citi The Club eligible spend</a:t>
                      </a:r>
                    </a:p>
                  </a:txBody>
                  <a:tcPr marL="171450" marR="171450" marT="152400" marB="152400" anchor="ctr">
                    <a:solidFill>
                      <a:srgbClr val="F8F7F2"/>
                    </a:solidFill>
                  </a:tcPr>
                </a:tc>
                <a:tc>
                  <a:txBody>
                    <a:bodyPr/>
                    <a:lstStyle/>
                    <a:p>
                      <a:r>
                        <a:rPr sz="1650">
                          <a:solidFill>
                            <a:srgbClr val="171914"/>
                          </a:solidFill>
                          <a:latin typeface="Arial"/>
                          <a:ea typeface="Arial"/>
                          <a:cs typeface="Arial"/>
                        </a:rPr>
                        <a:t>1 base + 3 bonus points / HK$20</a:t>
                      </a:r>
                    </a:p>
                    <a:p>
                      <a:r>
                        <a:rPr sz="1650">
                          <a:solidFill>
                            <a:srgbClr val="171914"/>
                          </a:solidFill>
                          <a:latin typeface="Arial"/>
                          <a:ea typeface="Arial"/>
                          <a:cs typeface="Arial"/>
                        </a:rPr>
                        <a:t>Bonus cap 1,500 / statement cycle</a:t>
                      </a:r>
                    </a:p>
                  </a:txBody>
                  <a:tcPr marL="171450" marR="171450" marT="152400" marB="152400" anchor="ctr">
                    <a:solidFill>
                      <a:srgbClr val="F8F7F2"/>
                    </a:solidFill>
                  </a:tcPr>
                </a:tc>
                <a:tc>
                  <a:txBody>
                    <a:bodyPr/>
                    <a:lstStyle/>
                    <a:p>
                      <a:r>
                        <a:rPr sz="1650">
                          <a:solidFill>
                            <a:srgbClr val="171914"/>
                          </a:solidFill>
                          <a:latin typeface="Arial"/>
                          <a:ea typeface="Arial"/>
                          <a:cs typeface="Arial"/>
                        </a:rPr>
                        <a:t>Eligibility unverified</a:t>
                      </a:r>
                    </a:p>
                    <a:p>
                      <a:r>
                        <a:rPr sz="1650">
                          <a:solidFill>
                            <a:srgbClr val="171914"/>
                          </a:solidFill>
                          <a:latin typeface="Arial"/>
                          <a:ea typeface="Arial"/>
                          <a:cs typeface="Arial"/>
                        </a:rPr>
                        <a:t>Refunds reverse rewards</a:t>
                      </a:r>
                    </a:p>
                  </a:txBody>
                  <a:tcPr marL="171450" marR="171450" marT="152400" marB="152400" anchor="ctr">
                    <a:solidFill>
                      <a:srgbClr val="F8F7F2"/>
                    </a:solidFill>
                  </a:tcPr>
                </a:tc>
              </a:tr>
            </a:tbl>
          </a:graphicData>
        </a:graphic>
      </p:graphicFrame>
      <p:sp>
        <p:nvSpPr>
          <p:cNvPr id="7" name="">
            <a:extLst xmlns:a="http://schemas.openxmlformats.org/drawingml/2006/main">
              <a:ext uri="{FF2B5EF4-FFF2-40B4-BE49-F238E27FC236}">
                <a16:creationId xmlns:a16="http://schemas.microsoft.com/office/drawing/2014/main" id="{E9309C2A-8CC1-42F6-87C1-96D6520218C1}"/>
              </a:ext>
            </a:extLst>
          </p:cNvPr>
          <p:cNvSpPr>
            <a:spLocks xmlns:a="http://schemas.openxmlformats.org/drawingml/2006/main" noGrp="1"/>
          </p:cNvSpPr>
          <p:nvPr/>
        </p:nvSpPr>
        <p:spPr>
          <a:xfrm xmlns:a="http://schemas.openxmlformats.org/drawingml/2006/main">
            <a:off x="685800" y="5505450"/>
            <a:ext cx="1057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00">
                <a:solidFill>
                  <a:srgbClr val="171914"/>
                </a:solidFill>
                <a:latin typeface="Arial"/>
                <a:ea typeface="Arial"/>
                <a:cs typeface="Arial"/>
              </a:defRPr>
            </a:pPr>
            <a:r>
              <a:rPr sz="1800">
                <a:solidFill>
                  <a:srgbClr val="171914"/>
                </a:solidFill>
                <a:latin typeface="Arial"/>
                <a:ea typeface="Arial"/>
                <a:cs typeface="Arial"/>
              </a:rPr>
              <a:t>Conditional illustration: HK$1,000 eligible spend gives 200 points and HK$40 redemption value, with sufficient bonus allowance.</a:t>
            </a:r>
          </a:p>
        </p:txBody>
      </p:sp>
      <p:sp>
        <p:nvSpPr>
          <p:cNvPr id="8" name="">
            <a:extLst xmlns:a="http://schemas.openxmlformats.org/drawingml/2006/main">
              <a:ext uri="{FF2B5EF4-FFF2-40B4-BE49-F238E27FC236}">
                <a16:creationId xmlns:a16="http://schemas.microsoft.com/office/drawing/2014/main" id="{2B632010-FEF5-4C7B-99E0-3A4E0691EAB3}"/>
              </a:ext>
            </a:extLst>
          </p:cNvPr>
          <p:cNvSpPr>
            <a:spLocks xmlns:a="http://schemas.openxmlformats.org/drawingml/2006/main" noGrp="1"/>
          </p:cNvSpPr>
          <p:nvPr/>
        </p:nvSpPr>
        <p:spPr>
          <a:xfrm xmlns:a="http://schemas.openxmlformats.org/drawingml/2006/main">
            <a:off x="685800" y="6076950"/>
            <a:ext cx="10572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350">
                <a:solidFill>
                  <a:srgbClr val="696C65"/>
                </a:solidFill>
                <a:latin typeface="Arial"/>
                <a:ea typeface="Arial"/>
                <a:cs typeface="Arial"/>
              </a:defRPr>
            </a:pPr>
            <a:r>
              <a:rPr sz="1350">
                <a:solidFill>
                  <a:srgbClr val="696C65"/>
                </a:solidFill>
                <a:latin typeface="Arial"/>
                <a:ea typeface="Arial"/>
                <a:cs typeface="Arial"/>
              </a:rPr>
              <a:t>Source links and dated observations: crosscart.vercel.app/evidence</a:t>
            </a:r>
          </a:p>
        </p:txBody>
      </p:sp>
    </p:spTree>
    <p:extLst>
      <p:ext uri="{BB962C8B-B14F-4D97-AF65-F5344CB8AC3E}">
        <p14:creationId xmlns:p14="http://schemas.microsoft.com/office/powerpoint/2010/main" val="2061745620"/>
      </p:ext>
    </p:extLst>
  </p:cSld>
</p:sld>
</file>

<file path=ppt/slides/slide1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683DA42-BDBC-471F-A60B-FCA9B181948A}"/>
              </a:ext>
            </a:extLst>
          </p:cNvPr>
          <p:cNvSpPr>
            <a:spLocks xmlns:a="http://schemas.openxmlformats.org/drawingml/2006/main" noGrp="1"/>
          </p:cNvSpPr>
          <p:nvPr/>
        </p:nvSpPr>
        <p:spPr>
          <a:xfrm xmlns:a="http://schemas.openxmlformats.org/drawingml/2006/main">
            <a:off x="685800" y="361950"/>
            <a:ext cx="10820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125" b="1">
                <a:solidFill>
                  <a:srgbClr val="702321"/>
                </a:solidFill>
                <a:latin typeface="Arial"/>
                <a:ea typeface="Arial"/>
                <a:cs typeface="Arial"/>
              </a:defRPr>
            </a:pPr>
            <a:r>
              <a:rPr sz="1125" b="1">
                <a:solidFill>
                  <a:srgbClr val="702321"/>
                </a:solidFill>
                <a:latin typeface="Arial"/>
                <a:ea typeface="Arial"/>
                <a:cs typeface="Arial"/>
              </a:rPr>
              <a:t>09 / PROPOSED NEXT INTEGRATION</a:t>
            </a:r>
          </a:p>
        </p:txBody>
      </p:sp>
      <p:sp>
        <p:nvSpPr>
          <p:cNvPr id="2" name="">
            <a:extLst xmlns:a="http://schemas.openxmlformats.org/drawingml/2006/main">
              <a:ext uri="{FF2B5EF4-FFF2-40B4-BE49-F238E27FC236}">
                <a16:creationId xmlns:a16="http://schemas.microsoft.com/office/drawing/2014/main" id="{5FD8F714-625B-408D-B433-5464EEDFCD3B}"/>
              </a:ext>
            </a:extLst>
          </p:cNvPr>
          <p:cNvSpPr>
            <a:spLocks xmlns:a="http://schemas.openxmlformats.org/drawingml/2006/main" noGrp="1"/>
          </p:cNvSpPr>
          <p:nvPr/>
        </p:nvSpPr>
        <p:spPr>
          <a:xfrm xmlns:a="http://schemas.openxmlformats.org/drawingml/2006/main">
            <a:off x="685800" y="885825"/>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71914"/>
                </a:solidFill>
                <a:latin typeface="Arial"/>
                <a:ea typeface="Arial"/>
                <a:cs typeface="Arial"/>
              </a:defRPr>
            </a:pPr>
            <a:r>
              <a:rPr sz="3600" b="1">
                <a:solidFill>
                  <a:srgbClr val="171914"/>
                </a:solidFill>
                <a:latin typeface="Arial"/>
                <a:ea typeface="Arial"/>
                <a:cs typeface="Arial"/>
              </a:rPr>
              <a:t>A pilot for The Club shopping journey</a:t>
            </a:r>
          </a:p>
        </p:txBody>
      </p:sp>
      <p:sp>
        <p:nvSpPr>
          <p:cNvPr id="3" name="">
            <a:extLst xmlns:a="http://schemas.openxmlformats.org/drawingml/2006/main">
              <a:ext uri="{FF2B5EF4-FFF2-40B4-BE49-F238E27FC236}">
                <a16:creationId xmlns:a16="http://schemas.microsoft.com/office/drawing/2014/main" id="{C69A660C-BB74-4D3E-9EAC-AE3A14916283}"/>
              </a:ext>
            </a:extLst>
          </p:cNvPr>
          <p:cNvSpPr>
            <a:spLocks xmlns:a="http://schemas.openxmlformats.org/drawingml/2006/main" noGrp="1"/>
          </p:cNvSpPr>
          <p:nvPr/>
        </p:nvSpPr>
        <p:spPr>
          <a:xfrm xmlns:a="http://schemas.openxmlformats.org/drawingml/2006/main">
            <a:off x="685800" y="641985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125" b="1">
                <a:solidFill>
                  <a:srgbClr val="171914"/>
                </a:solidFill>
                <a:latin typeface="Arial"/>
                <a:ea typeface="Arial"/>
                <a:cs typeface="Arial"/>
              </a:defRPr>
            </a:pPr>
            <a:r>
              <a:rPr sz="1125" b="1">
                <a:solidFill>
                  <a:srgbClr val="171914"/>
                </a:solidFill>
                <a:latin typeface="Arial"/>
                <a:ea typeface="Arial"/>
                <a:cs typeface="Arial"/>
              </a:rPr>
              <a:t>CrossCart</a:t>
            </a:r>
          </a:p>
        </p:txBody>
      </p:sp>
      <p:sp>
        <p:nvSpPr>
          <p:cNvPr id="4" name="">
            <a:extLst xmlns:a="http://schemas.openxmlformats.org/drawingml/2006/main">
              <a:ext uri="{FF2B5EF4-FFF2-40B4-BE49-F238E27FC236}">
                <a16:creationId xmlns:a16="http://schemas.microsoft.com/office/drawing/2014/main" id="{03088240-A82B-4FCA-A5A5-8612AE653E3C}"/>
              </a:ext>
            </a:extLst>
          </p:cNvPr>
          <p:cNvSpPr>
            <a:spLocks xmlns:a="http://schemas.openxmlformats.org/drawingml/2006/main" noGrp="1"/>
          </p:cNvSpPr>
          <p:nvPr/>
        </p:nvSpPr>
        <p:spPr>
          <a:xfrm xmlns:a="http://schemas.openxmlformats.org/drawingml/2006/main">
            <a:off x="6667500" y="6419850"/>
            <a:ext cx="43243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050">
                <a:solidFill>
                  <a:srgbClr val="696C65"/>
                </a:solidFill>
                <a:latin typeface="Arial"/>
                <a:ea typeface="Arial"/>
                <a:cs typeface="Arial"/>
              </a:defRPr>
            </a:pPr>
            <a:r>
              <a:rPr sz="1050">
                <a:solidFill>
                  <a:srgbClr val="696C65"/>
                </a:solidFill>
                <a:latin typeface="Arial"/>
                <a:ea typeface="Arial"/>
                <a:cs typeface="Arial"/>
              </a:rPr>
              <a:t>Stripe test mode · Synthetic merchants</a:t>
            </a:r>
          </a:p>
        </p:txBody>
      </p:sp>
      <p:sp>
        <p:nvSpPr>
          <p:cNvPr id="5" name="">
            <a:extLst xmlns:a="http://schemas.openxmlformats.org/drawingml/2006/main">
              <a:ext uri="{FF2B5EF4-FFF2-40B4-BE49-F238E27FC236}">
                <a16:creationId xmlns:a16="http://schemas.microsoft.com/office/drawing/2014/main" id="{0F216301-FCF5-43F5-9EDF-FA580577E760}"/>
              </a:ext>
            </a:extLst>
          </p:cNvPr>
          <p:cNvSpPr>
            <a:spLocks xmlns:a="http://schemas.openxmlformats.org/drawingml/2006/main" noGrp="1"/>
          </p:cNvSpPr>
          <p:nvPr/>
        </p:nvSpPr>
        <p:spPr>
          <a:xfrm xmlns:a="http://schemas.openxmlformats.org/drawingml/2006/main">
            <a:off x="11172825" y="640080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200">
                <a:solidFill>
                  <a:srgbClr val="696C65"/>
                </a:solidFill>
                <a:latin typeface="Arial"/>
                <a:ea typeface="Arial"/>
                <a:cs typeface="Arial"/>
              </a:defRPr>
            </a:pPr>
            <a:r>
              <a:rPr sz="1200">
                <a:solidFill>
                  <a:srgbClr val="696C65"/>
                </a:solidFill>
                <a:latin typeface="Arial"/>
                <a:ea typeface="Arial"/>
                <a:cs typeface="Arial"/>
              </a:rPr>
              <a:t>10</a:t>
            </a:r>
          </a:p>
        </p:txBody>
      </p:sp>
      <p:sp>
        <p:nvSpPr>
          <p:cNvPr id="6" name="">
            <a:extLst xmlns:a="http://schemas.openxmlformats.org/drawingml/2006/main">
              <a:ext uri="{FF2B5EF4-FFF2-40B4-BE49-F238E27FC236}">
                <a16:creationId xmlns:a16="http://schemas.microsoft.com/office/drawing/2014/main" id="{B3136EB4-023A-4864-8B9E-1247DFD89BB4}"/>
              </a:ext>
            </a:extLst>
          </p:cNvPr>
          <p:cNvSpPr>
            <a:spLocks xmlns:a="http://schemas.openxmlformats.org/drawingml/2006/main" noGrp="1"/>
          </p:cNvSpPr>
          <p:nvPr/>
        </p:nvSpPr>
        <p:spPr>
          <a:xfrm xmlns:a="http://schemas.openxmlformats.org/drawingml/2006/main">
            <a:off x="685800" y="2057400"/>
            <a:ext cx="48387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1">
                <a:solidFill>
                  <a:srgbClr val="171914"/>
                </a:solidFill>
                <a:latin typeface="Arial"/>
                <a:ea typeface="Arial"/>
                <a:cs typeface="Arial"/>
              </a:defRPr>
            </a:pPr>
            <a:r>
              <a:rPr sz="2625" b="1">
                <a:solidFill>
                  <a:srgbClr val="171914"/>
                </a:solidFill>
                <a:latin typeface="Arial"/>
                <a:ea typeface="Arial"/>
                <a:cs typeface="Arial"/>
              </a:rPr>
              <a:t>Today</a:t>
            </a:r>
          </a:p>
        </p:txBody>
      </p:sp>
      <p:sp>
        <p:nvSpPr>
          <p:cNvPr id="7" name="">
            <a:extLst xmlns:a="http://schemas.openxmlformats.org/drawingml/2006/main">
              <a:ext uri="{FF2B5EF4-FFF2-40B4-BE49-F238E27FC236}">
                <a16:creationId xmlns:a16="http://schemas.microsoft.com/office/drawing/2014/main" id="{17BE7614-32DC-4AE8-80E4-58F33D13BEBF}"/>
              </a:ext>
            </a:extLst>
          </p:cNvPr>
          <p:cNvSpPr>
            <a:spLocks xmlns:a="http://schemas.openxmlformats.org/drawingml/2006/main" noGrp="1"/>
          </p:cNvSpPr>
          <p:nvPr/>
        </p:nvSpPr>
        <p:spPr>
          <a:xfrm xmlns:a="http://schemas.openxmlformats.org/drawingml/2006/main">
            <a:off x="723900" y="2867025"/>
            <a:ext cx="4867275"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50000"/>
              </a:lnSpc>
              <a:buNone/>
              <a:defRPr sz="2175">
                <a:solidFill>
                  <a:srgbClr val="171914"/>
                </a:solidFill>
                <a:latin typeface="Arial"/>
                <a:ea typeface="Arial"/>
                <a:cs typeface="Arial"/>
              </a:defRPr>
            </a:pPr>
            <a:r>
              <a:rPr sz="2175">
                <a:solidFill>
                  <a:srgbClr val="171914"/>
                </a:solidFill>
                <a:latin typeface="Arial"/>
                <a:ea typeface="Arial"/>
                <a:cs typeface="Arial"/>
              </a:rPr>
              <a:t>Working agent comparison</a:t>
            </a:r>
          </a:p>
          <a:p xmlns:a="http://schemas.openxmlformats.org/drawingml/2006/main">
            <a:pPr>
              <a:lnSpc>
                <a:spcPct val="150000"/>
              </a:lnSpc>
              <a:buNone/>
              <a:defRPr sz="2175">
                <a:solidFill>
                  <a:srgbClr val="171914"/>
                </a:solidFill>
                <a:latin typeface="Arial"/>
                <a:ea typeface="Arial"/>
                <a:cs typeface="Arial"/>
              </a:defRPr>
            </a:pPr>
            <a:r>
              <a:rPr sz="2175">
                <a:solidFill>
                  <a:srgbClr val="171914"/>
                </a:solidFill>
                <a:latin typeface="Arial"/>
                <a:ea typeface="Arial"/>
                <a:cs typeface="Arial"/>
              </a:rPr>
              <a:t>Exact purchase approval</a:t>
            </a:r>
          </a:p>
          <a:p xmlns:a="http://schemas.openxmlformats.org/drawingml/2006/main">
            <a:pPr>
              <a:lnSpc>
                <a:spcPct val="150000"/>
              </a:lnSpc>
              <a:buNone/>
              <a:defRPr sz="2175">
                <a:solidFill>
                  <a:srgbClr val="171914"/>
                </a:solidFill>
                <a:latin typeface="Arial"/>
                <a:ea typeface="Arial"/>
                <a:cs typeface="Arial"/>
              </a:defRPr>
            </a:pPr>
            <a:r>
              <a:rPr sz="2175">
                <a:solidFill>
                  <a:srgbClr val="171914"/>
                </a:solidFill>
                <a:latin typeface="Arial"/>
                <a:ea typeface="Arial"/>
                <a:cs typeface="Arial"/>
              </a:rPr>
              <a:t>Official Stripe test payments</a:t>
            </a:r>
          </a:p>
          <a:p xmlns:a="http://schemas.openxmlformats.org/drawingml/2006/main">
            <a:pPr>
              <a:lnSpc>
                <a:spcPct val="150000"/>
              </a:lnSpc>
              <a:buNone/>
              <a:defRPr sz="2175">
                <a:solidFill>
                  <a:srgbClr val="171914"/>
                </a:solidFill>
                <a:latin typeface="Arial"/>
                <a:ea typeface="Arial"/>
                <a:cs typeface="Arial"/>
              </a:defRPr>
            </a:pPr>
            <a:r>
              <a:rPr sz="2175">
                <a:solidFill>
                  <a:srgbClr val="171914"/>
                </a:solidFill>
                <a:latin typeface="Arial"/>
                <a:ea typeface="Arial"/>
                <a:cs typeface="Arial"/>
              </a:rPr>
              <a:t>Public, responsive demo</a:t>
            </a:r>
          </a:p>
        </p:txBody>
      </p:sp>
      <p:sp>
        <p:nvSpPr>
          <p:cNvPr id="8" name="">
            <a:extLst xmlns:a="http://schemas.openxmlformats.org/drawingml/2006/main">
              <a:ext uri="{FF2B5EF4-FFF2-40B4-BE49-F238E27FC236}">
                <a16:creationId xmlns:a16="http://schemas.microsoft.com/office/drawing/2014/main" id="{DD6B694F-C670-4B2C-8DDE-B230EC9CE227}"/>
              </a:ext>
            </a:extLst>
          </p:cNvPr>
          <p:cNvSpPr>
            <a:spLocks xmlns:a="http://schemas.openxmlformats.org/drawingml/2006/main" noGrp="1"/>
          </p:cNvSpPr>
          <p:nvPr/>
        </p:nvSpPr>
        <p:spPr>
          <a:xfrm xmlns:a="http://schemas.openxmlformats.org/drawingml/2006/main">
            <a:off x="6638925" y="2057400"/>
            <a:ext cx="4857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1">
                <a:solidFill>
                  <a:srgbClr val="702321"/>
                </a:solidFill>
                <a:latin typeface="Arial"/>
                <a:ea typeface="Arial"/>
                <a:cs typeface="Arial"/>
              </a:defRPr>
            </a:pPr>
            <a:r>
              <a:rPr sz="2625" b="1">
                <a:solidFill>
                  <a:srgbClr val="702321"/>
                </a:solidFill>
                <a:latin typeface="Arial"/>
                <a:ea typeface="Arial"/>
                <a:cs typeface="Arial"/>
              </a:rPr>
              <a:t>Pilot proposal</a:t>
            </a:r>
          </a:p>
        </p:txBody>
      </p:sp>
      <p:sp>
        <p:nvSpPr>
          <p:cNvPr id="9" name="">
            <a:extLst xmlns:a="http://schemas.openxmlformats.org/drawingml/2006/main">
              <a:ext uri="{FF2B5EF4-FFF2-40B4-BE49-F238E27FC236}">
                <a16:creationId xmlns:a16="http://schemas.microsoft.com/office/drawing/2014/main" id="{E97DC55D-192A-4E10-818E-A32697814D71}"/>
              </a:ext>
            </a:extLst>
          </p:cNvPr>
          <p:cNvSpPr>
            <a:spLocks xmlns:a="http://schemas.openxmlformats.org/drawingml/2006/main" noGrp="1"/>
          </p:cNvSpPr>
          <p:nvPr/>
        </p:nvSpPr>
        <p:spPr>
          <a:xfrm xmlns:a="http://schemas.openxmlformats.org/drawingml/2006/main">
            <a:off x="6677025" y="2867025"/>
            <a:ext cx="48577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50000"/>
              </a:lnSpc>
              <a:buNone/>
              <a:defRPr sz="2175">
                <a:solidFill>
                  <a:srgbClr val="171914"/>
                </a:solidFill>
                <a:latin typeface="Arial"/>
                <a:ea typeface="Arial"/>
                <a:cs typeface="Arial"/>
              </a:defRPr>
            </a:pPr>
            <a:r>
              <a:rPr sz="2175">
                <a:solidFill>
                  <a:srgbClr val="171914"/>
                </a:solidFill>
                <a:latin typeface="Arial"/>
                <a:ea typeface="Arial"/>
                <a:cs typeface="Arial"/>
              </a:rPr>
              <a:t>Authoritative merchant catalogue</a:t>
            </a:r>
          </a:p>
          <a:p xmlns:a="http://schemas.openxmlformats.org/drawingml/2006/main">
            <a:pPr>
              <a:lnSpc>
                <a:spcPct val="150000"/>
              </a:lnSpc>
              <a:buNone/>
              <a:defRPr sz="2175">
                <a:solidFill>
                  <a:srgbClr val="171914"/>
                </a:solidFill>
                <a:latin typeface="Arial"/>
                <a:ea typeface="Arial"/>
                <a:cs typeface="Arial"/>
              </a:defRPr>
            </a:pPr>
            <a:r>
              <a:rPr sz="2175">
                <a:solidFill>
                  <a:srgbClr val="171914"/>
                </a:solidFill>
                <a:latin typeface="Arial"/>
                <a:ea typeface="Arial"/>
                <a:cs typeface="Arial"/>
              </a:rPr>
              <a:t>Verified Clubpoints eligibility</a:t>
            </a:r>
          </a:p>
          <a:p xmlns:a="http://schemas.openxmlformats.org/drawingml/2006/main">
            <a:pPr>
              <a:lnSpc>
                <a:spcPct val="150000"/>
              </a:lnSpc>
              <a:buNone/>
              <a:defRPr sz="2175">
                <a:solidFill>
                  <a:srgbClr val="171914"/>
                </a:solidFill>
                <a:latin typeface="Arial"/>
                <a:ea typeface="Arial"/>
                <a:cs typeface="Arial"/>
              </a:defRPr>
            </a:pPr>
            <a:r>
              <a:rPr sz="2175">
                <a:solidFill>
                  <a:srgbClr val="171914"/>
                </a:solidFill>
                <a:latin typeface="Arial"/>
                <a:ea typeface="Arial"/>
                <a:cs typeface="Arial"/>
              </a:rPr>
              <a:t>Partner-approved payment route</a:t>
            </a:r>
          </a:p>
          <a:p xmlns:a="http://schemas.openxmlformats.org/drawingml/2006/main">
            <a:pPr>
              <a:lnSpc>
                <a:spcPct val="150000"/>
              </a:lnSpc>
              <a:buNone/>
              <a:defRPr sz="2175">
                <a:solidFill>
                  <a:srgbClr val="171914"/>
                </a:solidFill>
                <a:latin typeface="Arial"/>
                <a:ea typeface="Arial"/>
                <a:cs typeface="Arial"/>
              </a:defRPr>
            </a:pPr>
            <a:r>
              <a:rPr sz="2175">
                <a:solidFill>
                  <a:srgbClr val="171914"/>
                </a:solidFill>
                <a:latin typeface="Arial"/>
                <a:ea typeface="Arial"/>
                <a:cs typeface="Arial"/>
              </a:rPr>
              <a:t>Human comparison study</a:t>
            </a:r>
          </a:p>
        </p:txBody>
      </p:sp>
      <p:sp>
        <p:nvSpPr>
          <p:cNvPr id="10" name="">
            <a:extLst xmlns:a="http://schemas.openxmlformats.org/drawingml/2006/main">
              <a:ext uri="{FF2B5EF4-FFF2-40B4-BE49-F238E27FC236}">
                <a16:creationId xmlns:a16="http://schemas.microsoft.com/office/drawing/2014/main" id="{E7027A14-3515-44CD-9E78-040C2C9A8D1B}"/>
              </a:ext>
            </a:extLst>
          </p:cNvPr>
          <p:cNvSpPr>
            <a:spLocks xmlns:a="http://schemas.openxmlformats.org/drawingml/2006/main" noGrp="1"/>
          </p:cNvSpPr>
          <p:nvPr/>
        </p:nvSpPr>
        <p:spPr>
          <a:xfrm xmlns:a="http://schemas.openxmlformats.org/drawingml/2006/main">
            <a:off x="723900" y="5572125"/>
            <a:ext cx="1071562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a:solidFill>
                  <a:srgbClr val="696C65"/>
                </a:solidFill>
                <a:latin typeface="Arial"/>
                <a:ea typeface="Arial"/>
                <a:cs typeface="Arial"/>
              </a:defRPr>
            </a:pPr>
            <a:r>
              <a:rPr sz="1875">
                <a:solidFill>
                  <a:srgbClr val="696C65"/>
                </a:solidFill>
                <a:latin typeface="Arial"/>
                <a:ea typeface="Arial"/>
                <a:cs typeface="Arial"/>
              </a:rPr>
              <a:t>The current prototype uses synthetic merchants. HKT APIs, loyalty accounts, government eID and real settlement need partner access.</a:t>
            </a:r>
          </a:p>
        </p:txBody>
      </p:sp>
    </p:spTree>
    <p:extLst>
      <p:ext uri="{BB962C8B-B14F-4D97-AF65-F5344CB8AC3E}">
        <p14:creationId xmlns:p14="http://schemas.microsoft.com/office/powerpoint/2010/main" val="680389133"/>
      </p:ext>
    </p:extLst>
  </p:cSld>
</p:sld>
</file>

<file path=ppt/slides/slide1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F6F6143-74E7-48ED-87B7-9F59596D5672}"/>
              </a:ext>
            </a:extLst>
          </p:cNvPr>
          <p:cNvSpPr>
            <a:spLocks xmlns:a="http://schemas.openxmlformats.org/drawingml/2006/main" noGrp="1"/>
          </p:cNvSpPr>
          <p:nvPr/>
        </p:nvSpPr>
        <p:spPr>
          <a:xfrm xmlns:a="http://schemas.openxmlformats.org/drawingml/2006/main">
            <a:off x="685800" y="361950"/>
            <a:ext cx="10820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125" b="1">
                <a:solidFill>
                  <a:srgbClr val="702321"/>
                </a:solidFill>
                <a:latin typeface="Arial"/>
                <a:ea typeface="Arial"/>
                <a:cs typeface="Arial"/>
              </a:defRPr>
            </a:pPr>
            <a:r>
              <a:rPr sz="1125" b="1">
                <a:solidFill>
                  <a:srgbClr val="702321"/>
                </a:solidFill>
                <a:latin typeface="Arial"/>
                <a:ea typeface="Arial"/>
                <a:cs typeface="Arial"/>
              </a:rPr>
              <a:t>10 / PUBLIC SUBMISSION LINKS</a:t>
            </a:r>
          </a:p>
        </p:txBody>
      </p:sp>
      <p:sp>
        <p:nvSpPr>
          <p:cNvPr id="2" name="">
            <a:extLst xmlns:a="http://schemas.openxmlformats.org/drawingml/2006/main">
              <a:ext uri="{FF2B5EF4-FFF2-40B4-BE49-F238E27FC236}">
                <a16:creationId xmlns:a16="http://schemas.microsoft.com/office/drawing/2014/main" id="{DD720C0C-FF39-43F3-B3EA-352C8CEE9C31}"/>
              </a:ext>
            </a:extLst>
          </p:cNvPr>
          <p:cNvSpPr>
            <a:spLocks xmlns:a="http://schemas.openxmlformats.org/drawingml/2006/main" noGrp="1"/>
          </p:cNvSpPr>
          <p:nvPr/>
        </p:nvSpPr>
        <p:spPr>
          <a:xfrm xmlns:a="http://schemas.openxmlformats.org/drawingml/2006/main">
            <a:off x="685800" y="885825"/>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71914"/>
                </a:solidFill>
                <a:latin typeface="Arial"/>
                <a:ea typeface="Arial"/>
                <a:cs typeface="Arial"/>
              </a:defRPr>
            </a:pPr>
            <a:r>
              <a:rPr sz="3600" b="1">
                <a:solidFill>
                  <a:srgbClr val="171914"/>
                </a:solidFill>
                <a:latin typeface="Arial"/>
                <a:ea typeface="Arial"/>
                <a:cs typeface="Arial"/>
              </a:rPr>
              <a:t>The working demo</a:t>
            </a:r>
          </a:p>
        </p:txBody>
      </p:sp>
      <p:sp>
        <p:nvSpPr>
          <p:cNvPr id="3" name="">
            <a:extLst xmlns:a="http://schemas.openxmlformats.org/drawingml/2006/main">
              <a:ext uri="{FF2B5EF4-FFF2-40B4-BE49-F238E27FC236}">
                <a16:creationId xmlns:a16="http://schemas.microsoft.com/office/drawing/2014/main" id="{377082F3-480C-48F4-BE8E-B5C57A690FA7}"/>
              </a:ext>
            </a:extLst>
          </p:cNvPr>
          <p:cNvSpPr>
            <a:spLocks xmlns:a="http://schemas.openxmlformats.org/drawingml/2006/main" noGrp="1"/>
          </p:cNvSpPr>
          <p:nvPr/>
        </p:nvSpPr>
        <p:spPr>
          <a:xfrm xmlns:a="http://schemas.openxmlformats.org/drawingml/2006/main">
            <a:off x="685800" y="641985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125" b="1">
                <a:solidFill>
                  <a:srgbClr val="171914"/>
                </a:solidFill>
                <a:latin typeface="Arial"/>
                <a:ea typeface="Arial"/>
                <a:cs typeface="Arial"/>
              </a:defRPr>
            </a:pPr>
            <a:r>
              <a:rPr sz="1125" b="1">
                <a:solidFill>
                  <a:srgbClr val="171914"/>
                </a:solidFill>
                <a:latin typeface="Arial"/>
                <a:ea typeface="Arial"/>
                <a:cs typeface="Arial"/>
              </a:rPr>
              <a:t>CrossCart</a:t>
            </a:r>
          </a:p>
        </p:txBody>
      </p:sp>
      <p:sp>
        <p:nvSpPr>
          <p:cNvPr id="4" name="">
            <a:extLst xmlns:a="http://schemas.openxmlformats.org/drawingml/2006/main">
              <a:ext uri="{FF2B5EF4-FFF2-40B4-BE49-F238E27FC236}">
                <a16:creationId xmlns:a16="http://schemas.microsoft.com/office/drawing/2014/main" id="{67AA9EE9-32FC-47B7-A4AC-4FCF4FDAD810}"/>
              </a:ext>
            </a:extLst>
          </p:cNvPr>
          <p:cNvSpPr>
            <a:spLocks xmlns:a="http://schemas.openxmlformats.org/drawingml/2006/main" noGrp="1"/>
          </p:cNvSpPr>
          <p:nvPr/>
        </p:nvSpPr>
        <p:spPr>
          <a:xfrm xmlns:a="http://schemas.openxmlformats.org/drawingml/2006/main">
            <a:off x="6667500" y="6419850"/>
            <a:ext cx="43243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050">
                <a:solidFill>
                  <a:srgbClr val="696C65"/>
                </a:solidFill>
                <a:latin typeface="Arial"/>
                <a:ea typeface="Arial"/>
                <a:cs typeface="Arial"/>
              </a:defRPr>
            </a:pPr>
            <a:r>
              <a:rPr sz="1050">
                <a:solidFill>
                  <a:srgbClr val="696C65"/>
                </a:solidFill>
                <a:latin typeface="Arial"/>
                <a:ea typeface="Arial"/>
                <a:cs typeface="Arial"/>
              </a:rPr>
              <a:t>Stripe test mode · Synthetic merchants</a:t>
            </a:r>
          </a:p>
        </p:txBody>
      </p:sp>
      <p:sp>
        <p:nvSpPr>
          <p:cNvPr id="5" name="">
            <a:extLst xmlns:a="http://schemas.openxmlformats.org/drawingml/2006/main">
              <a:ext uri="{FF2B5EF4-FFF2-40B4-BE49-F238E27FC236}">
                <a16:creationId xmlns:a16="http://schemas.microsoft.com/office/drawing/2014/main" id="{C295E878-E2BE-405E-8373-C10EB06C8443}"/>
              </a:ext>
            </a:extLst>
          </p:cNvPr>
          <p:cNvSpPr>
            <a:spLocks xmlns:a="http://schemas.openxmlformats.org/drawingml/2006/main" noGrp="1"/>
          </p:cNvSpPr>
          <p:nvPr/>
        </p:nvSpPr>
        <p:spPr>
          <a:xfrm xmlns:a="http://schemas.openxmlformats.org/drawingml/2006/main">
            <a:off x="11172825" y="640080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200">
                <a:solidFill>
                  <a:srgbClr val="696C65"/>
                </a:solidFill>
                <a:latin typeface="Arial"/>
                <a:ea typeface="Arial"/>
                <a:cs typeface="Arial"/>
              </a:defRPr>
            </a:pPr>
            <a:r>
              <a:rPr sz="1200">
                <a:solidFill>
                  <a:srgbClr val="696C65"/>
                </a:solidFill>
                <a:latin typeface="Arial"/>
                <a:ea typeface="Arial"/>
                <a:cs typeface="Arial"/>
              </a:rPr>
              <a:t>11</a:t>
            </a:r>
          </a:p>
        </p:txBody>
      </p:sp>
      <p:sp>
        <p:nvSpPr>
          <p:cNvPr id="6" name="">
            <a:extLst xmlns:a="http://schemas.openxmlformats.org/drawingml/2006/main">
              <a:ext uri="{FF2B5EF4-FFF2-40B4-BE49-F238E27FC236}">
                <a16:creationId xmlns:a16="http://schemas.microsoft.com/office/drawing/2014/main" id="{12318ABC-C3F2-4A34-9164-0FC6CB45F8E3}"/>
              </a:ext>
            </a:extLst>
          </p:cNvPr>
          <p:cNvSpPr>
            <a:spLocks xmlns:a="http://schemas.openxmlformats.org/drawingml/2006/main" noGrp="1"/>
          </p:cNvSpPr>
          <p:nvPr/>
        </p:nvSpPr>
        <p:spPr>
          <a:xfrm xmlns:a="http://schemas.openxmlformats.org/drawingml/2006/main">
            <a:off x="685800" y="2085975"/>
            <a:ext cx="10763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025" b="1">
                <a:solidFill>
                  <a:srgbClr val="171914"/>
                </a:solidFill>
                <a:latin typeface="Arial"/>
                <a:ea typeface="Arial"/>
                <a:cs typeface="Arial"/>
              </a:defRPr>
            </a:pPr>
            <a:r>
              <a:rPr sz="5025" b="1">
                <a:solidFill>
                  <a:srgbClr val="171914"/>
                </a:solidFill>
                <a:latin typeface="Arial"/>
                <a:ea typeface="Arial"/>
                <a:cs typeface="Arial"/>
              </a:rPr>
              <a:t>CrossCart</a:t>
            </a:r>
          </a:p>
        </p:txBody>
      </p:sp>
      <p:sp>
        <p:nvSpPr>
          <p:cNvPr id="7" name="">
            <a:extLst xmlns:a="http://schemas.openxmlformats.org/drawingml/2006/main">
              <a:ext uri="{FF2B5EF4-FFF2-40B4-BE49-F238E27FC236}">
                <a16:creationId xmlns:a16="http://schemas.microsoft.com/office/drawing/2014/main" id="{E6886D5B-0803-44C5-AA7D-5ECAE16EA29C}"/>
              </a:ext>
            </a:extLst>
          </p:cNvPr>
          <p:cNvSpPr>
            <a:spLocks xmlns:a="http://schemas.openxmlformats.org/drawingml/2006/main" noGrp="1"/>
          </p:cNvSpPr>
          <p:nvPr/>
        </p:nvSpPr>
        <p:spPr>
          <a:xfrm xmlns:a="http://schemas.openxmlformats.org/drawingml/2006/main">
            <a:off x="723900" y="305752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900" i="1">
                <a:solidFill>
                  <a:srgbClr val="702321"/>
                </a:solidFill>
                <a:latin typeface="Georgia"/>
                <a:ea typeface="Georgia"/>
                <a:cs typeface="Georgia"/>
              </a:defRPr>
            </a:pPr>
            <a:r>
              <a:rPr sz="3900" i="1">
                <a:solidFill>
                  <a:srgbClr val="702321"/>
                </a:solidFill>
                <a:latin typeface="Georgia"/>
                <a:ea typeface="Georgia"/>
                <a:cs typeface="Georgia"/>
              </a:rPr>
              <a:t>One approval. One exact purchase.</a:t>
            </a:r>
          </a:p>
        </p:txBody>
      </p:sp>
      <p:sp>
        <p:nvSpPr>
          <p:cNvPr id="8" name="">
            <a:extLst xmlns:a="http://schemas.openxmlformats.org/drawingml/2006/main">
              <a:ext uri="{FF2B5EF4-FFF2-40B4-BE49-F238E27FC236}">
                <a16:creationId xmlns:a16="http://schemas.microsoft.com/office/drawing/2014/main" id="{6BA9F1E7-5859-486C-85A1-3DCA655B9CB3}"/>
              </a:ext>
            </a:extLst>
          </p:cNvPr>
          <p:cNvSpPr>
            <a:spLocks xmlns:a="http://schemas.openxmlformats.org/drawingml/2006/main" noGrp="1"/>
          </p:cNvSpPr>
          <p:nvPr/>
        </p:nvSpPr>
        <p:spPr>
          <a:xfrm xmlns:a="http://schemas.openxmlformats.org/drawingml/2006/main">
            <a:off x="733425" y="4162425"/>
            <a:ext cx="1047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a:solidFill>
                  <a:srgbClr val="702321"/>
                </a:solidFill>
                <a:latin typeface="Arial"/>
                <a:ea typeface="Arial"/>
                <a:cs typeface="Arial"/>
              </a:defRPr>
            </a:pPr>
            <a:r>
              <a:rPr sz="2550">
                <a:solidFill>
                  <a:srgbClr val="702321"/>
                </a:solidFill>
                <a:latin typeface="Arial"/>
                <a:ea typeface="Arial"/>
                <a:cs typeface="Arial"/>
                <a:hlinkClick xmlns:r="http://schemas.openxmlformats.org/officeDocument/2006/relationships" r:id="Rada1b04e5c474722"/>
              </a:rPr>
              <a:t>crosscart.vercel.app</a:t>
            </a:r>
          </a:p>
        </p:txBody>
      </p:sp>
      <p:sp>
        <p:nvSpPr>
          <p:cNvPr id="9" name="">
            <a:extLst xmlns:a="http://schemas.openxmlformats.org/drawingml/2006/main">
              <a:ext uri="{FF2B5EF4-FFF2-40B4-BE49-F238E27FC236}">
                <a16:creationId xmlns:a16="http://schemas.microsoft.com/office/drawing/2014/main" id="{9D269AE2-1714-43A8-8D14-806CDFE675D1}"/>
              </a:ext>
            </a:extLst>
          </p:cNvPr>
          <p:cNvSpPr>
            <a:spLocks xmlns:a="http://schemas.openxmlformats.org/drawingml/2006/main" noGrp="1"/>
          </p:cNvSpPr>
          <p:nvPr/>
        </p:nvSpPr>
        <p:spPr>
          <a:xfrm xmlns:a="http://schemas.openxmlformats.org/drawingml/2006/main">
            <a:off x="733425" y="4772025"/>
            <a:ext cx="1047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75">
                <a:solidFill>
                  <a:srgbClr val="702321"/>
                </a:solidFill>
                <a:latin typeface="Arial"/>
                <a:ea typeface="Arial"/>
                <a:cs typeface="Arial"/>
              </a:defRPr>
            </a:pPr>
            <a:r>
              <a:rPr sz="2175">
                <a:solidFill>
                  <a:srgbClr val="702321"/>
                </a:solidFill>
                <a:latin typeface="Arial"/>
                <a:ea typeface="Arial"/>
                <a:cs typeface="Arial"/>
                <a:hlinkClick xmlns:r="http://schemas.openxmlformats.org/officeDocument/2006/relationships" r:id="Rae380d014b2140c4"/>
              </a:rPr>
              <a:t>github.com/Gout999/CrossCart</a:t>
            </a:r>
          </a:p>
        </p:txBody>
      </p:sp>
      <p:sp>
        <p:nvSpPr>
          <p:cNvPr id="10" name="">
            <a:extLst xmlns:a="http://schemas.openxmlformats.org/drawingml/2006/main">
              <a:ext uri="{FF2B5EF4-FFF2-40B4-BE49-F238E27FC236}">
                <a16:creationId xmlns:a16="http://schemas.microsoft.com/office/drawing/2014/main" id="{C10FBE95-2F49-4AFD-A07E-F0EFAFDB4553}"/>
              </a:ext>
            </a:extLst>
          </p:cNvPr>
          <p:cNvSpPr>
            <a:spLocks xmlns:a="http://schemas.openxmlformats.org/drawingml/2006/main" noGrp="1"/>
          </p:cNvSpPr>
          <p:nvPr/>
        </p:nvSpPr>
        <p:spPr>
          <a:xfrm xmlns:a="http://schemas.openxmlformats.org/drawingml/2006/main">
            <a:off x="733425" y="5457825"/>
            <a:ext cx="10572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00">
                <a:solidFill>
                  <a:srgbClr val="696C65"/>
                </a:solidFill>
                <a:latin typeface="Arial"/>
                <a:ea typeface="Arial"/>
                <a:cs typeface="Arial"/>
              </a:defRPr>
            </a:pPr>
            <a:r>
              <a:rPr sz="1800">
                <a:solidFill>
                  <a:srgbClr val="696C65"/>
                </a:solidFill>
                <a:latin typeface="Arial"/>
                <a:ea typeface="Arial"/>
                <a:cs typeface="Arial"/>
              </a:rPr>
              <a:t>Demo buyer / crosscart-demo</a:t>
            </a:r>
          </a:p>
          <a:p xmlns:a="http://schemas.openxmlformats.org/drawingml/2006/main">
            <a:pPr>
              <a:defRPr sz="1800">
                <a:solidFill>
                  <a:srgbClr val="696C65"/>
                </a:solidFill>
                <a:latin typeface="Arial"/>
                <a:ea typeface="Arial"/>
                <a:cs typeface="Arial"/>
              </a:defRPr>
            </a:pPr>
            <a:r>
              <a:rPr sz="1800">
                <a:solidFill>
                  <a:srgbClr val="696C65"/>
                </a:solidFill>
                <a:latin typeface="Arial"/>
                <a:ea typeface="Arial"/>
                <a:cs typeface="Arial"/>
              </a:rPr>
              <a:t>Stripe test card 4242 4242 4242 4242, future expiry, any CVC</a:t>
            </a:r>
          </a:p>
        </p:txBody>
      </p:sp>
    </p:spTree>
    <p:extLst>
      <p:ext uri="{BB962C8B-B14F-4D97-AF65-F5344CB8AC3E}">
        <p14:creationId xmlns:p14="http://schemas.microsoft.com/office/powerpoint/2010/main" val="19704081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2026-10-03T17:33:23.2340000Z</dcterms:created>
  <dcterms:modified xsi:type="dcterms:W3CDTF">2026-10-03T17:33:23.2340000Z</dcterms:modified>
</coreProperties>
</file>